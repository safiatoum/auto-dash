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2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3.xml" ContentType="application/vnd.openxmlformats-officedocument.presentationml.notesSlide+xml"/>
  <Override PartName="/ppt/tags/tag5.xml" ContentType="application/vnd.openxmlformats-officedocument.presentationml.tags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73"/>
  </p:notesMasterIdLst>
  <p:handoutMasterIdLst>
    <p:handoutMasterId r:id="rId74"/>
  </p:handoutMasterIdLst>
  <p:sldIdLst>
    <p:sldId id="1262" r:id="rId5"/>
    <p:sldId id="2147473080" r:id="rId6"/>
    <p:sldId id="2147472962" r:id="rId7"/>
    <p:sldId id="2147472836" r:id="rId8"/>
    <p:sldId id="2147473077" r:id="rId9"/>
    <p:sldId id="2147472903" r:id="rId10"/>
    <p:sldId id="2147472918" r:id="rId11"/>
    <p:sldId id="2147472868" r:id="rId12"/>
    <p:sldId id="2147473066" r:id="rId13"/>
    <p:sldId id="2147473067" r:id="rId14"/>
    <p:sldId id="2147473050" r:id="rId15"/>
    <p:sldId id="2147473059" r:id="rId16"/>
    <p:sldId id="2147473078" r:id="rId17"/>
    <p:sldId id="2147473064" r:id="rId18"/>
    <p:sldId id="2147472937" r:id="rId19"/>
    <p:sldId id="2147472938" r:id="rId20"/>
    <p:sldId id="2147473079" r:id="rId21"/>
    <p:sldId id="2147472843" r:id="rId22"/>
    <p:sldId id="2147472845" r:id="rId23"/>
    <p:sldId id="2147472919" r:id="rId24"/>
    <p:sldId id="2147472961" r:id="rId25"/>
    <p:sldId id="2147473084" r:id="rId26"/>
    <p:sldId id="2147473085" r:id="rId27"/>
    <p:sldId id="2147473086" r:id="rId28"/>
    <p:sldId id="2147473087" r:id="rId29"/>
    <p:sldId id="2147473088" r:id="rId30"/>
    <p:sldId id="2147473089" r:id="rId31"/>
    <p:sldId id="2147473090" r:id="rId32"/>
    <p:sldId id="2147473091" r:id="rId33"/>
    <p:sldId id="2147473092" r:id="rId34"/>
    <p:sldId id="2147473093" r:id="rId35"/>
    <p:sldId id="2147473094" r:id="rId36"/>
    <p:sldId id="2147473095" r:id="rId37"/>
    <p:sldId id="2147473096" r:id="rId38"/>
    <p:sldId id="2147473097" r:id="rId39"/>
    <p:sldId id="2147473098" r:id="rId40"/>
    <p:sldId id="2147473099" r:id="rId41"/>
    <p:sldId id="2147473108" r:id="rId42"/>
    <p:sldId id="2147473109" r:id="rId43"/>
    <p:sldId id="2147473110" r:id="rId44"/>
    <p:sldId id="2147473111" r:id="rId45"/>
    <p:sldId id="2147473100" r:id="rId46"/>
    <p:sldId id="2147473101" r:id="rId47"/>
    <p:sldId id="2147473102" r:id="rId48"/>
    <p:sldId id="2147473103" r:id="rId49"/>
    <p:sldId id="2147473104" r:id="rId50"/>
    <p:sldId id="2147473105" r:id="rId51"/>
    <p:sldId id="2147473106" r:id="rId52"/>
    <p:sldId id="2147473107" r:id="rId53"/>
    <p:sldId id="2147473112" r:id="rId54"/>
    <p:sldId id="2147473113" r:id="rId55"/>
    <p:sldId id="2147473114" r:id="rId56"/>
    <p:sldId id="2147473115" r:id="rId57"/>
    <p:sldId id="2147473081" r:id="rId58"/>
    <p:sldId id="1833" r:id="rId59"/>
    <p:sldId id="2147472873" r:id="rId60"/>
    <p:sldId id="2147472945" r:id="rId61"/>
    <p:sldId id="2147472947" r:id="rId62"/>
    <p:sldId id="2147473082" r:id="rId63"/>
    <p:sldId id="2147472954" r:id="rId64"/>
    <p:sldId id="2147472957" r:id="rId65"/>
    <p:sldId id="2147472955" r:id="rId66"/>
    <p:sldId id="2147473083" r:id="rId67"/>
    <p:sldId id="2147472936" r:id="rId68"/>
    <p:sldId id="2147472959" r:id="rId69"/>
    <p:sldId id="2147472988" r:id="rId70"/>
    <p:sldId id="2147472989" r:id="rId71"/>
    <p:sldId id="2147472480" r:id="rId72"/>
  </p:sldIdLst>
  <p:sldSz cx="12192000" cy="6858000"/>
  <p:notesSz cx="6797675" cy="9926638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59169A5-17C3-4D7E-991E-7642FD894D8E}">
          <p14:sldIdLst>
            <p14:sldId id="1262"/>
            <p14:sldId id="2147473080"/>
          </p14:sldIdLst>
        </p14:section>
        <p14:section name="Introduction" id="{58530EC6-00C9-43C7-9ED9-92EC31822E26}">
          <p14:sldIdLst>
            <p14:sldId id="2147472962"/>
            <p14:sldId id="2147472836"/>
            <p14:sldId id="2147473077"/>
            <p14:sldId id="2147472903"/>
            <p14:sldId id="2147472918"/>
            <p14:sldId id="2147472868"/>
            <p14:sldId id="2147473066"/>
            <p14:sldId id="2147473067"/>
            <p14:sldId id="2147473050"/>
            <p14:sldId id="2147473059"/>
            <p14:sldId id="2147473078"/>
            <p14:sldId id="2147473064"/>
            <p14:sldId id="2147472937"/>
            <p14:sldId id="2147472938"/>
            <p14:sldId id="2147473079"/>
            <p14:sldId id="2147472843"/>
            <p14:sldId id="2147472845"/>
            <p14:sldId id="2147472919"/>
            <p14:sldId id="2147472961"/>
            <p14:sldId id="2147473084"/>
            <p14:sldId id="2147473085"/>
            <p14:sldId id="2147473086"/>
            <p14:sldId id="2147473087"/>
            <p14:sldId id="2147473088"/>
            <p14:sldId id="2147473089"/>
            <p14:sldId id="2147473090"/>
            <p14:sldId id="2147473091"/>
            <p14:sldId id="2147473092"/>
            <p14:sldId id="2147473093"/>
            <p14:sldId id="2147473094"/>
            <p14:sldId id="2147473095"/>
            <p14:sldId id="2147473096"/>
            <p14:sldId id="2147473097"/>
            <p14:sldId id="2147473098"/>
            <p14:sldId id="2147473099"/>
            <p14:sldId id="2147473108"/>
            <p14:sldId id="2147473109"/>
            <p14:sldId id="2147473110"/>
            <p14:sldId id="2147473111"/>
            <p14:sldId id="2147473100"/>
            <p14:sldId id="2147473101"/>
            <p14:sldId id="2147473102"/>
            <p14:sldId id="2147473103"/>
            <p14:sldId id="2147473104"/>
            <p14:sldId id="2147473105"/>
            <p14:sldId id="2147473106"/>
            <p14:sldId id="2147473107"/>
            <p14:sldId id="2147473112"/>
            <p14:sldId id="2147473113"/>
            <p14:sldId id="2147473114"/>
            <p14:sldId id="2147473115"/>
            <p14:sldId id="2147473081"/>
            <p14:sldId id="1833"/>
            <p14:sldId id="2147472873"/>
            <p14:sldId id="2147472945"/>
            <p14:sldId id="2147472947"/>
            <p14:sldId id="2147473082"/>
            <p14:sldId id="2147472954"/>
            <p14:sldId id="2147472957"/>
            <p14:sldId id="2147472955"/>
            <p14:sldId id="2147473083"/>
            <p14:sldId id="2147472936"/>
            <p14:sldId id="2147472959"/>
            <p14:sldId id="2147472988"/>
            <p14:sldId id="2147472989"/>
            <p14:sldId id="21474724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49FD8E2-3B88-E78F-9C23-77EC1DA778B0}" name="Marie-Adélaïde Freymuth" initials="MF" userId="S::ma.freymuth@autobiz.com::5192debb-cd52-4035-bb40-bb365f7d6e62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ébastien VAUCELLE" initials="SV" lastIdx="3" clrIdx="0">
    <p:extLst>
      <p:ext uri="{19B8F6BF-5375-455C-9EA6-DF929625EA0E}">
        <p15:presenceInfo xmlns:p15="http://schemas.microsoft.com/office/powerpoint/2012/main" userId="S-1-5-21-4015772884-1558307891-1633393085-369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B00"/>
    <a:srgbClr val="043882"/>
    <a:srgbClr val="C0C0C0"/>
    <a:srgbClr val="F3F8FF"/>
    <a:srgbClr val="DDEBF7"/>
    <a:srgbClr val="44546A"/>
    <a:srgbClr val="009246"/>
    <a:srgbClr val="5F6893"/>
    <a:srgbClr val="FEFEFE"/>
    <a:srgbClr val="FFF9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0C1585-580A-499B-8AB1-98B53A28C4AA}" v="2" dt="2026-03-30T09:09:29.7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4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handoutMaster" Target="handoutMasters/handoutMaster1.xml"/><Relationship Id="rId79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microsoft.com/office/2018/10/relationships/authors" Target="author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notesMaster" Target="notesMasters/notesMaster1.xml"/><Relationship Id="rId78" Type="http://schemas.openxmlformats.org/officeDocument/2006/relationships/theme" Target="theme/theme1.xml"/><Relationship Id="rId8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presProps" Target="presProp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fiatou MORO" userId="ddb57cc4-b27a-4e20-a662-fed37f92d3d1" providerId="ADAL" clId="{05BD29F9-DCB6-4BEE-8DED-49FF75B6D9CA}"/>
    <pc:docChg chg="undo custSel modSld">
      <pc:chgData name="Safiatou MORO" userId="ddb57cc4-b27a-4e20-a662-fed37f92d3d1" providerId="ADAL" clId="{05BD29F9-DCB6-4BEE-8DED-49FF75B6D9CA}" dt="2026-03-30T09:10:23.108" v="37" actId="20577"/>
      <pc:docMkLst>
        <pc:docMk/>
      </pc:docMkLst>
      <pc:sldChg chg="addSp modSp">
        <pc:chgData name="Safiatou MORO" userId="ddb57cc4-b27a-4e20-a662-fed37f92d3d1" providerId="ADAL" clId="{05BD29F9-DCB6-4BEE-8DED-49FF75B6D9CA}" dt="2026-03-30T09:09:28.216" v="36"/>
        <pc:sldMkLst>
          <pc:docMk/>
          <pc:sldMk cId="4211008703" sldId="2147472936"/>
        </pc:sldMkLst>
        <pc:spChg chg="add mod">
          <ac:chgData name="Safiatou MORO" userId="ddb57cc4-b27a-4e20-a662-fed37f92d3d1" providerId="ADAL" clId="{05BD29F9-DCB6-4BEE-8DED-49FF75B6D9CA}" dt="2026-03-30T09:09:28.216" v="36"/>
          <ac:spMkLst>
            <pc:docMk/>
            <pc:sldMk cId="4211008703" sldId="2147472936"/>
            <ac:spMk id="3" creationId="{4A5E3027-7409-B03B-3B2A-147B5476FD24}"/>
          </ac:spMkLst>
        </pc:spChg>
      </pc:sldChg>
      <pc:sldChg chg="modSp mod">
        <pc:chgData name="Safiatou MORO" userId="ddb57cc4-b27a-4e20-a662-fed37f92d3d1" providerId="ADAL" clId="{05BD29F9-DCB6-4BEE-8DED-49FF75B6D9CA}" dt="2026-03-30T09:08:18.475" v="35" actId="1076"/>
        <pc:sldMkLst>
          <pc:docMk/>
          <pc:sldMk cId="1126233307" sldId="2147472945"/>
        </pc:sldMkLst>
        <pc:spChg chg="mod">
          <ac:chgData name="Safiatou MORO" userId="ddb57cc4-b27a-4e20-a662-fed37f92d3d1" providerId="ADAL" clId="{05BD29F9-DCB6-4BEE-8DED-49FF75B6D9CA}" dt="2026-03-30T09:08:18.475" v="35" actId="1076"/>
          <ac:spMkLst>
            <pc:docMk/>
            <pc:sldMk cId="1126233307" sldId="2147472945"/>
            <ac:spMk id="12" creationId="{48C072B9-B366-BDD8-D989-EC716F82F722}"/>
          </ac:spMkLst>
        </pc:spChg>
      </pc:sldChg>
      <pc:sldChg chg="delSp modSp mod">
        <pc:chgData name="Safiatou MORO" userId="ddb57cc4-b27a-4e20-a662-fed37f92d3d1" providerId="ADAL" clId="{05BD29F9-DCB6-4BEE-8DED-49FF75B6D9CA}" dt="2026-03-30T09:10:23.108" v="37" actId="20577"/>
        <pc:sldMkLst>
          <pc:docMk/>
          <pc:sldMk cId="1835699478" sldId="2147473050"/>
        </pc:sldMkLst>
        <pc:spChg chg="mod">
          <ac:chgData name="Safiatou MORO" userId="ddb57cc4-b27a-4e20-a662-fed37f92d3d1" providerId="ADAL" clId="{05BD29F9-DCB6-4BEE-8DED-49FF75B6D9CA}" dt="2026-03-30T08:52:34.188" v="10" actId="1038"/>
          <ac:spMkLst>
            <pc:docMk/>
            <pc:sldMk cId="1835699478" sldId="2147473050"/>
            <ac:spMk id="3" creationId="{37127967-9ED5-8135-A7B0-8EC4009DB023}"/>
          </ac:spMkLst>
        </pc:spChg>
        <pc:spChg chg="mod">
          <ac:chgData name="Safiatou MORO" userId="ddb57cc4-b27a-4e20-a662-fed37f92d3d1" providerId="ADAL" clId="{05BD29F9-DCB6-4BEE-8DED-49FF75B6D9CA}" dt="2026-03-30T09:10:23.108" v="37" actId="20577"/>
          <ac:spMkLst>
            <pc:docMk/>
            <pc:sldMk cId="1835699478" sldId="2147473050"/>
            <ac:spMk id="33" creationId="{994C8677-7775-861F-7FFF-60D66919370B}"/>
          </ac:spMkLst>
        </pc:spChg>
        <pc:spChg chg="del">
          <ac:chgData name="Safiatou MORO" userId="ddb57cc4-b27a-4e20-a662-fed37f92d3d1" providerId="ADAL" clId="{05BD29F9-DCB6-4BEE-8DED-49FF75B6D9CA}" dt="2026-03-30T08:52:32.492" v="7" actId="478"/>
          <ac:spMkLst>
            <pc:docMk/>
            <pc:sldMk cId="1835699478" sldId="2147473050"/>
            <ac:spMk id="34" creationId="{5E964FE3-9C35-A3EA-7D73-4834964A7341}"/>
          </ac:spMkLst>
        </pc:spChg>
      </pc:sldChg>
      <pc:sldChg chg="delSp modSp mod">
        <pc:chgData name="Safiatou MORO" userId="ddb57cc4-b27a-4e20-a662-fed37f92d3d1" providerId="ADAL" clId="{05BD29F9-DCB6-4BEE-8DED-49FF75B6D9CA}" dt="2026-03-30T08:54:41.881" v="32" actId="20577"/>
        <pc:sldMkLst>
          <pc:docMk/>
          <pc:sldMk cId="2324992177" sldId="2147473059"/>
        </pc:sldMkLst>
        <pc:spChg chg="mod">
          <ac:chgData name="Safiatou MORO" userId="ddb57cc4-b27a-4e20-a662-fed37f92d3d1" providerId="ADAL" clId="{05BD29F9-DCB6-4BEE-8DED-49FF75B6D9CA}" dt="2026-03-30T08:52:47.442" v="31" actId="1038"/>
          <ac:spMkLst>
            <pc:docMk/>
            <pc:sldMk cId="2324992177" sldId="2147473059"/>
            <ac:spMk id="3" creationId="{BC5115F0-2E01-D18C-A7AC-F24755E3DF0C}"/>
          </ac:spMkLst>
        </pc:spChg>
        <pc:spChg chg="mod">
          <ac:chgData name="Safiatou MORO" userId="ddb57cc4-b27a-4e20-a662-fed37f92d3d1" providerId="ADAL" clId="{05BD29F9-DCB6-4BEE-8DED-49FF75B6D9CA}" dt="2026-03-30T08:54:41.881" v="32" actId="20577"/>
          <ac:spMkLst>
            <pc:docMk/>
            <pc:sldMk cId="2324992177" sldId="2147473059"/>
            <ac:spMk id="50" creationId="{97F9B207-BA65-43BB-FBE7-EC5AAFC39C56}"/>
          </ac:spMkLst>
        </pc:spChg>
        <pc:spChg chg="del">
          <ac:chgData name="Safiatou MORO" userId="ddb57cc4-b27a-4e20-a662-fed37f92d3d1" providerId="ADAL" clId="{05BD29F9-DCB6-4BEE-8DED-49FF75B6D9CA}" dt="2026-03-30T08:52:40.129" v="21" actId="478"/>
          <ac:spMkLst>
            <pc:docMk/>
            <pc:sldMk cId="2324992177" sldId="2147473059"/>
            <ac:spMk id="51" creationId="{23AAFF3A-FC14-F5EE-6972-57F970413227}"/>
          </ac:spMkLst>
        </pc:spChg>
      </pc:sldChg>
      <pc:sldChg chg="modSp mod">
        <pc:chgData name="Safiatou MORO" userId="ddb57cc4-b27a-4e20-a662-fed37f92d3d1" providerId="ADAL" clId="{05BD29F9-DCB6-4BEE-8DED-49FF75B6D9CA}" dt="2026-03-30T08:51:00.729" v="0" actId="20577"/>
        <pc:sldMkLst>
          <pc:docMk/>
          <pc:sldMk cId="1991886015" sldId="2147473066"/>
        </pc:sldMkLst>
        <pc:spChg chg="mod">
          <ac:chgData name="Safiatou MORO" userId="ddb57cc4-b27a-4e20-a662-fed37f92d3d1" providerId="ADAL" clId="{05BD29F9-DCB6-4BEE-8DED-49FF75B6D9CA}" dt="2026-03-30T08:51:00.729" v="0" actId="20577"/>
          <ac:spMkLst>
            <pc:docMk/>
            <pc:sldMk cId="1991886015" sldId="2147473066"/>
            <ac:spMk id="19" creationId="{7B69F535-5399-0C38-4400-98B1B1611C52}"/>
          </ac:spMkLst>
        </pc:spChg>
      </pc:sldChg>
      <pc:sldChg chg="modSp mod">
        <pc:chgData name="Safiatou MORO" userId="ddb57cc4-b27a-4e20-a662-fed37f92d3d1" providerId="ADAL" clId="{05BD29F9-DCB6-4BEE-8DED-49FF75B6D9CA}" dt="2026-03-30T08:51:10.231" v="1" actId="20577"/>
        <pc:sldMkLst>
          <pc:docMk/>
          <pc:sldMk cId="1153292060" sldId="2147473067"/>
        </pc:sldMkLst>
        <pc:spChg chg="mod">
          <ac:chgData name="Safiatou MORO" userId="ddb57cc4-b27a-4e20-a662-fed37f92d3d1" providerId="ADAL" clId="{05BD29F9-DCB6-4BEE-8DED-49FF75B6D9CA}" dt="2026-03-30T08:51:10.231" v="1" actId="20577"/>
          <ac:spMkLst>
            <pc:docMk/>
            <pc:sldMk cId="1153292060" sldId="2147473067"/>
            <ac:spMk id="20" creationId="{FF9242BD-2326-E56C-52D2-99997BE4109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58946B81-967D-BC55-4E45-21DE77B46F5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4AF8360-F38A-75EF-41D0-5A211B28F3B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878338-E163-4C54-9561-D6E9738BEB8B}" type="datetime1">
              <a:rPr lang="fr-FR" smtClean="0"/>
              <a:t>30/03/2026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5E5333D-52E2-313B-8E3F-0D7E9074B9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385C2E7-AE88-769D-E43F-3E51D762D41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B4C6E6-3AF1-4B1A-9695-72C8BA9ECB3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5992713"/>
      </p:ext>
    </p:extLst>
  </p:cSld>
  <p:clrMap bg1="lt1" tx1="dk1" bg2="lt2" tx2="dk2" accent1="accent1" accent2="accent2" accent3="accent3" accent4="accent4" accent5="accent5" accent6="accent6" hlink="hlink" folHlink="folHlink"/>
  <p:hf hd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5F4535-3591-4AAD-9289-106FE70D9FD8}" type="datetime1">
              <a:rPr lang="fr-FR" smtClean="0"/>
              <a:t>30/03/2026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D799-9569-4E88-8E24-9E0CA4836D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6389838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1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BDFF53C-299D-953C-3BE4-3EFBC03C7F3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551B562E-7595-5B1E-62A1-D1AF95F5AC7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4A36E841-AC53-4358-B08C-CEB57C3A490E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50870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D730-508B-F19F-4E8C-AF8834E23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6D7081B-E020-28DF-0B30-62E530931F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7A3F972-2121-A303-CC87-7DA99DDA5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DAFCAC9-2503-9634-5F55-6B42742B8A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2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14C805-B1AB-7F78-05A1-0CC84C6A640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BAA4E3E8-C97C-1FAF-363A-817C013DA0E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9580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C262A-FFD3-B51A-857B-C6BE7DEC4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5B086BB-C07F-8193-C995-B14BDCB52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DCEDB22-6F13-C043-622F-9A780DBA2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0926732-D75D-B0B8-9BB8-709B7BC8B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8DF9496-76A8-69A5-ED98-77E429935CB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0CA626F2-BABE-8B95-3DCB-CC5EECE03D4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68325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A5703-DA6E-48EC-80B0-9103BB73C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6CE373F-3A6E-A4B4-3783-D495395F55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31F414F-9024-FA47-C121-BF82F441DC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EC9DE65-954A-D618-9881-1EC08BF824D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A35F4535-3591-4AAD-9289-106FE70D9FD8}" type="datetime1">
              <a:rPr lang="fr-FR" smtClean="0"/>
              <a:t>30/03/2026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40A538-27E3-5E2F-F114-032D6D578B8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982FC68-66C1-DD9D-774D-73B012C568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99514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77B6E-8137-EF7A-2A09-AA26683E7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BCA7E9D-A7F6-01EA-31B5-5CA506362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BDB8510-8E4D-FB80-4F96-C24C6F49C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7D130A-A843-F794-CE57-9122EF240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13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04BD0B-70DB-0297-6E82-C40FEA372CE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6D16E83D-6868-CCC3-FF3F-91B78F23AF1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97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B6A89-74A0-D3DF-401D-788C9F4C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52D8A71-B1C0-43E4-E476-DB264E0254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8369F18-A911-6608-AE05-97D1A72463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en-ZA" sz="1200">
                <a:solidFill>
                  <a:schemeClr val="tx1"/>
                </a:solidFill>
                <a:latin typeface="DS Automobiles Office" pitchFamily="2" charset="0"/>
              </a:rPr>
              <a:t>Decrease of the leads treated (-3%)</a:t>
            </a:r>
          </a:p>
          <a:p>
            <a:pPr marL="285750" indent="-285750">
              <a:buFontTx/>
              <a:buChar char="-"/>
            </a:pPr>
            <a:endParaRPr lang="en-ZA" sz="1200">
              <a:solidFill>
                <a:schemeClr val="tx1"/>
              </a:solidFill>
              <a:latin typeface="DS Automobiles Office" pitchFamily="2" charset="0"/>
            </a:endParaRPr>
          </a:p>
          <a:p>
            <a:pPr marL="285750" indent="-285750">
              <a:buFontTx/>
              <a:buChar char="-"/>
            </a:pPr>
            <a:r>
              <a:rPr lang="en-ZA" sz="1200">
                <a:solidFill>
                  <a:schemeClr val="tx1"/>
                </a:solidFill>
                <a:latin typeface="DS Automobiles Office" pitchFamily="2" charset="0"/>
              </a:rPr>
              <a:t>Increase for the L.T.O.T vs Q2 (+1,9%)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ZA" sz="1200">
                <a:solidFill>
                  <a:schemeClr val="tx1"/>
                </a:solidFill>
                <a:latin typeface="DS Automobiles Office" pitchFamily="2" charset="0"/>
              </a:rPr>
              <a:t>Decrease of the L.W.Q (-5%)</a:t>
            </a:r>
            <a:endParaRPr lang="en-US" sz="1200">
              <a:solidFill>
                <a:schemeClr val="tx1"/>
              </a:solidFill>
              <a:latin typeface="DS Automobiles Office" pitchFamily="2" charset="0"/>
            </a:endParaRPr>
          </a:p>
          <a:p>
            <a:pPr marL="285750" indent="-285750">
              <a:buFontTx/>
              <a:buChar char="-"/>
            </a:pPr>
            <a:endParaRPr lang="en-ZA" sz="1200">
              <a:solidFill>
                <a:schemeClr val="tx1"/>
              </a:solidFill>
              <a:latin typeface="DS Automobiles Office" pitchFamily="2" charset="0"/>
            </a:endParaRPr>
          </a:p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6F7723-5247-4D23-6E3D-4A1AEF0C68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A46B207-691D-4EE2-B9CC-9F376BF0DE64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7918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62A52-AD8C-09FB-AADD-6EABDBD40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1BB76CE-38DE-0A05-4981-CBCABE55BB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B51AEDF-519E-6976-0EE2-A5F04C615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C2FF86-B391-AC64-C9D8-D4FB8FCE30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17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94E9FE-05CF-7213-6CB3-E37DDB426E0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842F4CCB-AF84-F536-3043-EBA3C14AEA9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5203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FA64E-9D01-7F13-D81C-2C60204E1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AC914D1-D0DF-FA2F-91D7-CA465DAEAC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4E9C590-C766-E543-2393-856E68CCA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3773C0-8E0E-5BCE-56A6-A80FD6D85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54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C571EB-9016-8A04-2A5D-BBBE392056A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116E84FA-BD50-3ED7-0913-6135FBC6FB6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40921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C1B31-744B-981F-07E1-A19D06574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85A62A3-72C2-786F-37CE-5DBEFB6943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FD558E-3C5A-3C58-0420-9F049D56D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Evènements </a:t>
            </a:r>
            <a:r>
              <a:rPr lang="fr-FR" err="1"/>
              <a:t>marquan</a:t>
            </a:r>
            <a:endParaRPr lang="fr-FR"/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CBCEE64-8F8E-372E-4B43-291A0764F4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86478F-7F75-40B6-BC56-A2511449177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0744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351AE-5733-0460-22FC-D1B9C78D6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E965960-7A83-5A09-DCBD-DE9438239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4E72D4D-9D99-25B5-1B17-2A150C3F8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Evènements </a:t>
            </a:r>
            <a:r>
              <a:rPr lang="fr-FR" err="1"/>
              <a:t>marquan</a:t>
            </a:r>
            <a:endParaRPr lang="fr-FR"/>
          </a:p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9FFAFF-8296-EAFF-542F-9293FA0EA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86478F-7F75-40B6-BC56-A2511449177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6096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BB7CF-B79B-6E2B-AAC5-E4F585A7C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CC05C8-8FBF-F72B-B141-3F44352E8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49844C0-5316-1F9E-31A8-B443FCF7C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B3E2D2-3247-438A-48B2-473B29811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59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D692554-443E-6392-520F-CAE9F2AB150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724C15FD-0CBC-C2A9-9EFC-B4404B371EE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9153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4ADEB-E5CD-4BE0-9784-CD1102FB1287}" type="slidenum">
              <a:rPr lang="fr-FR" smtClean="0"/>
              <a:t>60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92368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8DF91-5C02-D511-91BF-2A889BA41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F7C4D8E-C37A-2FB1-67C3-9CE33203C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E92573E-0CEF-A3B2-E1A2-008A797D35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22762A0-454D-D924-1D78-69698054F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4ADEB-E5CD-4BE0-9784-CD1102FB1287}" type="slidenum">
              <a:rPr lang="fr-FR" smtClean="0"/>
              <a:t>61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42318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DB7F8-4F54-D2F5-1F9C-87CDEB868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912CE45-71B1-BB72-21FB-3B8C24C8B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C0E70AF-AB84-5BE5-02F9-F881FFF8C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1511F89-2484-A6B6-373B-36F8831516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26D799-9569-4E88-8E24-9E0CA4836DE0}" type="slidenum">
              <a:rPr lang="fr-FR" smtClean="0"/>
              <a:t>63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27045C-9A93-C5F0-3288-51955F16A75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1AD2D449-FC62-15E0-8C89-FF83BB2E4A6A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6644B93-F9AB-49B6-8AE8-03D43A9E344C}" type="datetime1">
              <a:rPr lang="fr-FR" smtClean="0"/>
              <a:t>30/03/2026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7296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e 19">
            <a:extLst>
              <a:ext uri="{FF2B5EF4-FFF2-40B4-BE49-F238E27FC236}">
                <a16:creationId xmlns:a16="http://schemas.microsoft.com/office/drawing/2014/main" id="{0BDF4289-3C08-8020-4AA1-E9B6A1CAB1CE}"/>
              </a:ext>
            </a:extLst>
          </p:cNvPr>
          <p:cNvGrpSpPr/>
          <p:nvPr userDrawn="1"/>
        </p:nvGrpSpPr>
        <p:grpSpPr>
          <a:xfrm>
            <a:off x="0" y="-51124"/>
            <a:ext cx="12192002" cy="6553778"/>
            <a:chOff x="-21489" y="1181100"/>
            <a:chExt cx="9064238" cy="5156201"/>
          </a:xfrm>
        </p:grpSpPr>
        <p:sp>
          <p:nvSpPr>
            <p:cNvPr id="21" name="Freeform 3">
              <a:extLst>
                <a:ext uri="{FF2B5EF4-FFF2-40B4-BE49-F238E27FC236}">
                  <a16:creationId xmlns:a16="http://schemas.microsoft.com/office/drawing/2014/main" id="{1317EBF6-3F63-E893-4015-98B7A13DE0F1}"/>
                </a:ext>
              </a:extLst>
            </p:cNvPr>
            <p:cNvSpPr/>
            <p:nvPr/>
          </p:nvSpPr>
          <p:spPr>
            <a:xfrm>
              <a:off x="-21489" y="1181100"/>
              <a:ext cx="9064236" cy="5156201"/>
            </a:xfrm>
            <a:custGeom>
              <a:avLst/>
              <a:gdLst/>
              <a:ahLst/>
              <a:cxnLst/>
              <a:rect l="l" t="t" r="r" b="b"/>
              <a:pathLst>
                <a:path w="35097463" h="17034337">
                  <a:moveTo>
                    <a:pt x="0" y="0"/>
                  </a:moveTo>
                  <a:lnTo>
                    <a:pt x="35097463" y="0"/>
                  </a:lnTo>
                  <a:lnTo>
                    <a:pt x="35097463" y="17034337"/>
                  </a:lnTo>
                  <a:lnTo>
                    <a:pt x="0" y="170343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4">
              <a:extLst>
                <a:ext uri="{FF2B5EF4-FFF2-40B4-BE49-F238E27FC236}">
                  <a16:creationId xmlns:a16="http://schemas.microsoft.com/office/drawing/2014/main" id="{78E671D6-F449-6E1F-1417-28E75E3A613F}"/>
                </a:ext>
              </a:extLst>
            </p:cNvPr>
            <p:cNvSpPr/>
            <p:nvPr/>
          </p:nvSpPr>
          <p:spPr>
            <a:xfrm>
              <a:off x="-21488" y="1181100"/>
              <a:ext cx="9064237" cy="5156200"/>
            </a:xfrm>
            <a:custGeom>
              <a:avLst/>
              <a:gdLst/>
              <a:ahLst/>
              <a:cxnLst/>
              <a:rect l="l" t="t" r="r" b="b"/>
              <a:pathLst>
                <a:path w="32070247" h="11890157">
                  <a:moveTo>
                    <a:pt x="0" y="0"/>
                  </a:moveTo>
                  <a:lnTo>
                    <a:pt x="32070247" y="0"/>
                  </a:lnTo>
                  <a:lnTo>
                    <a:pt x="32070247" y="11890157"/>
                  </a:lnTo>
                  <a:lnTo>
                    <a:pt x="0" y="118901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 cstate="email">
                <a:alphaModFix amt="90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4D12656E-CF81-C02E-B29A-F6EAE0957293}"/>
              </a:ext>
            </a:extLst>
          </p:cNvPr>
          <p:cNvGrpSpPr/>
          <p:nvPr userDrawn="1"/>
        </p:nvGrpSpPr>
        <p:grpSpPr>
          <a:xfrm>
            <a:off x="1146755" y="6375033"/>
            <a:ext cx="10538243" cy="218664"/>
            <a:chOff x="1156915" y="6221292"/>
            <a:chExt cx="10538243" cy="218664"/>
          </a:xfrm>
        </p:grpSpPr>
        <p:sp>
          <p:nvSpPr>
            <p:cNvPr id="9" name="Freeform 12">
              <a:extLst>
                <a:ext uri="{FF2B5EF4-FFF2-40B4-BE49-F238E27FC236}">
                  <a16:creationId xmlns:a16="http://schemas.microsoft.com/office/drawing/2014/main" id="{5C066D3B-0C47-92E5-2FA6-40D4F31A85C7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AutoShape 11">
              <a:extLst>
                <a:ext uri="{FF2B5EF4-FFF2-40B4-BE49-F238E27FC236}">
                  <a16:creationId xmlns:a16="http://schemas.microsoft.com/office/drawing/2014/main" id="{065DB7F9-50FB-6054-6D83-FA01DBD59C1C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27" name="Image 2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BE4A6CD0-80C8-236B-469B-71935A92817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7109" y="520698"/>
            <a:ext cx="2573713" cy="698502"/>
          </a:xfrm>
          <a:prstGeom prst="rect">
            <a:avLst/>
          </a:prstGeom>
        </p:spPr>
      </p:pic>
      <p:sp>
        <p:nvSpPr>
          <p:cNvPr id="5" name="Espace réservé du pied de page 6">
            <a:extLst>
              <a:ext uri="{FF2B5EF4-FFF2-40B4-BE49-F238E27FC236}">
                <a16:creationId xmlns:a16="http://schemas.microsoft.com/office/drawing/2014/main" id="{CB0E70AD-1D25-9DBF-0BE3-EB59B3AC7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 err="1"/>
              <a:t>Strictly</a:t>
            </a:r>
            <a:r>
              <a:rPr lang="fr-FR"/>
              <a:t> </a:t>
            </a:r>
            <a:r>
              <a:rPr lang="fr-FR" err="1"/>
              <a:t>confidential</a:t>
            </a:r>
            <a:endParaRPr lang="fr-FR"/>
          </a:p>
        </p:txBody>
      </p:sp>
      <p:sp>
        <p:nvSpPr>
          <p:cNvPr id="6" name="Espace réservé de la date 1">
            <a:extLst>
              <a:ext uri="{FF2B5EF4-FFF2-40B4-BE49-F238E27FC236}">
                <a16:creationId xmlns:a16="http://schemas.microsoft.com/office/drawing/2014/main" id="{A4E4CE9E-6673-B109-FBC1-D7887DE1FD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</p:spTree>
    <p:extLst>
      <p:ext uri="{BB962C8B-B14F-4D97-AF65-F5344CB8AC3E}">
        <p14:creationId xmlns:p14="http://schemas.microsoft.com/office/powerpoint/2010/main" val="3617964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1" name="Groupe 20">
            <a:extLst>
              <a:ext uri="{FF2B5EF4-FFF2-40B4-BE49-F238E27FC236}">
                <a16:creationId xmlns:a16="http://schemas.microsoft.com/office/drawing/2014/main" id="{85CDAB10-DE54-57C0-8CEA-A8A8880B92C6}"/>
              </a:ext>
            </a:extLst>
          </p:cNvPr>
          <p:cNvGrpSpPr/>
          <p:nvPr userDrawn="1"/>
        </p:nvGrpSpPr>
        <p:grpSpPr>
          <a:xfrm>
            <a:off x="0" y="1008000"/>
            <a:ext cx="10538243" cy="218664"/>
            <a:chOff x="1156915" y="6221292"/>
            <a:chExt cx="10538243" cy="218664"/>
          </a:xfrm>
        </p:grpSpPr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49100575-4C5D-8713-0441-B018DC83196F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046AEA2D-1D8B-F6D3-D412-47CA02765CA0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159562" y="6372000"/>
            <a:ext cx="4032438" cy="1962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Titre 31">
            <a:extLst>
              <a:ext uri="{FF2B5EF4-FFF2-40B4-BE49-F238E27FC236}">
                <a16:creationId xmlns:a16="http://schemas.microsoft.com/office/drawing/2014/main" id="{95BC53AE-256D-29D8-6A99-EEB3352E9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2B64D9EF-7296-C990-A382-4897A22CA7D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B30DC5D4-5A02-C77E-8AE8-EE2BDDC03D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D4856AA-52C8-9318-5B37-5EE5EF2FE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D47E1841-EAF7-CEC9-0EC8-C52EF8AE32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342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e 17">
            <a:extLst>
              <a:ext uri="{FF2B5EF4-FFF2-40B4-BE49-F238E27FC236}">
                <a16:creationId xmlns:a16="http://schemas.microsoft.com/office/drawing/2014/main" id="{C82D813F-AA8B-DD28-EE9F-4CD164E9773E}"/>
              </a:ext>
            </a:extLst>
          </p:cNvPr>
          <p:cNvGrpSpPr/>
          <p:nvPr userDrawn="1"/>
        </p:nvGrpSpPr>
        <p:grpSpPr>
          <a:xfrm>
            <a:off x="-1" y="1124295"/>
            <a:ext cx="12192001" cy="5378359"/>
            <a:chOff x="-31748" y="1122283"/>
            <a:chExt cx="11980196" cy="5222004"/>
          </a:xfrm>
        </p:grpSpPr>
        <p:sp>
          <p:nvSpPr>
            <p:cNvPr id="17" name="Freeform 3">
              <a:extLst>
                <a:ext uri="{FF2B5EF4-FFF2-40B4-BE49-F238E27FC236}">
                  <a16:creationId xmlns:a16="http://schemas.microsoft.com/office/drawing/2014/main" id="{9F144B5A-6BF6-3C4B-AB1F-D43CBFC72852}"/>
                </a:ext>
              </a:extLst>
            </p:cNvPr>
            <p:cNvSpPr/>
            <p:nvPr userDrawn="1"/>
          </p:nvSpPr>
          <p:spPr>
            <a:xfrm>
              <a:off x="-31747" y="1122285"/>
              <a:ext cx="11980195" cy="5222002"/>
            </a:xfrm>
            <a:custGeom>
              <a:avLst/>
              <a:gdLst/>
              <a:ahLst/>
              <a:cxnLst/>
              <a:rect l="l" t="t" r="r" b="b"/>
              <a:pathLst>
                <a:path w="35097463" h="17034337">
                  <a:moveTo>
                    <a:pt x="0" y="0"/>
                  </a:moveTo>
                  <a:lnTo>
                    <a:pt x="35097463" y="0"/>
                  </a:lnTo>
                  <a:lnTo>
                    <a:pt x="35097463" y="17034337"/>
                  </a:lnTo>
                  <a:lnTo>
                    <a:pt x="0" y="170343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4">
              <a:extLst>
                <a:ext uri="{FF2B5EF4-FFF2-40B4-BE49-F238E27FC236}">
                  <a16:creationId xmlns:a16="http://schemas.microsoft.com/office/drawing/2014/main" id="{40F6D2D0-A8A9-0931-A401-E3B387558A96}"/>
                </a:ext>
              </a:extLst>
            </p:cNvPr>
            <p:cNvSpPr/>
            <p:nvPr userDrawn="1"/>
          </p:nvSpPr>
          <p:spPr>
            <a:xfrm>
              <a:off x="-31748" y="1122283"/>
              <a:ext cx="11980196" cy="5222002"/>
            </a:xfrm>
            <a:custGeom>
              <a:avLst/>
              <a:gdLst/>
              <a:ahLst/>
              <a:cxnLst/>
              <a:rect l="l" t="t" r="r" b="b"/>
              <a:pathLst>
                <a:path w="32070247" h="11890157">
                  <a:moveTo>
                    <a:pt x="0" y="0"/>
                  </a:moveTo>
                  <a:lnTo>
                    <a:pt x="32070247" y="0"/>
                  </a:lnTo>
                  <a:lnTo>
                    <a:pt x="32070247" y="11890157"/>
                  </a:lnTo>
                  <a:lnTo>
                    <a:pt x="0" y="118901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 cstate="email">
                <a:alphaModFix amt="90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11" name="Image 10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549598F8-3FC9-6D79-0511-E80A10ADC4B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0" name="Groupe 19">
            <a:extLst>
              <a:ext uri="{FF2B5EF4-FFF2-40B4-BE49-F238E27FC236}">
                <a16:creationId xmlns:a16="http://schemas.microsoft.com/office/drawing/2014/main" id="{AF410AAD-C7A6-1DF2-5A82-58E0ACDB16DC}"/>
              </a:ext>
            </a:extLst>
          </p:cNvPr>
          <p:cNvGrpSpPr/>
          <p:nvPr userDrawn="1"/>
        </p:nvGrpSpPr>
        <p:grpSpPr>
          <a:xfrm>
            <a:off x="8159561" y="6375600"/>
            <a:ext cx="4032438" cy="196279"/>
            <a:chOff x="8159561" y="6245191"/>
            <a:chExt cx="4032438" cy="196279"/>
          </a:xfrm>
        </p:grpSpPr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DF82B8A1-72F6-84C7-0D31-4120FAC66B9A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1">
              <a:extLst>
                <a:ext uri="{FF2B5EF4-FFF2-40B4-BE49-F238E27FC236}">
                  <a16:creationId xmlns:a16="http://schemas.microsoft.com/office/drawing/2014/main" id="{88A8DD86-2598-F753-1F08-4D011B02241F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210B3109-1047-F5AA-421A-8C6F9134068B}"/>
              </a:ext>
            </a:extLst>
          </p:cNvPr>
          <p:cNvGrpSpPr/>
          <p:nvPr userDrawn="1"/>
        </p:nvGrpSpPr>
        <p:grpSpPr>
          <a:xfrm>
            <a:off x="0" y="1008000"/>
            <a:ext cx="10538243" cy="218664"/>
            <a:chOff x="1156915" y="6221292"/>
            <a:chExt cx="10538243" cy="218664"/>
          </a:xfrm>
        </p:grpSpPr>
        <p:sp>
          <p:nvSpPr>
            <p:cNvPr id="4" name="Freeform 12">
              <a:extLst>
                <a:ext uri="{FF2B5EF4-FFF2-40B4-BE49-F238E27FC236}">
                  <a16:creationId xmlns:a16="http://schemas.microsoft.com/office/drawing/2014/main" id="{9E188151-9659-F5B6-E015-5C4831E03B09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AutoShape 11">
              <a:extLst>
                <a:ext uri="{FF2B5EF4-FFF2-40B4-BE49-F238E27FC236}">
                  <a16:creationId xmlns:a16="http://schemas.microsoft.com/office/drawing/2014/main" id="{BB048114-A2C8-6A2F-B351-3935C1B97AB8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itre 31">
            <a:extLst>
              <a:ext uri="{FF2B5EF4-FFF2-40B4-BE49-F238E27FC236}">
                <a16:creationId xmlns:a16="http://schemas.microsoft.com/office/drawing/2014/main" id="{360397E6-B15E-6879-A8FD-B84111C47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7" name="Espace réservé du texte 5">
            <a:extLst>
              <a:ext uri="{FF2B5EF4-FFF2-40B4-BE49-F238E27FC236}">
                <a16:creationId xmlns:a16="http://schemas.microsoft.com/office/drawing/2014/main" id="{36959ECE-2B69-B7E0-9F2F-54BFB23F18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13" name="Espace réservé du pied de page 6">
            <a:extLst>
              <a:ext uri="{FF2B5EF4-FFF2-40B4-BE49-F238E27FC236}">
                <a16:creationId xmlns:a16="http://schemas.microsoft.com/office/drawing/2014/main" id="{175D9C98-C99F-DD9D-3089-759D45E9B0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14" name="Espace réservé de la date 1">
            <a:extLst>
              <a:ext uri="{FF2B5EF4-FFF2-40B4-BE49-F238E27FC236}">
                <a16:creationId xmlns:a16="http://schemas.microsoft.com/office/drawing/2014/main" id="{35C01C48-F775-7069-405F-0E60B44718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15" name="Espace réservé du numéro de diapositive 10">
            <a:extLst>
              <a:ext uri="{FF2B5EF4-FFF2-40B4-BE49-F238E27FC236}">
                <a16:creationId xmlns:a16="http://schemas.microsoft.com/office/drawing/2014/main" id="{70516084-C55A-0C0E-8871-D043B461F6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1992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E01FD5A2-D123-B540-70FF-658436918B01}"/>
              </a:ext>
            </a:extLst>
          </p:cNvPr>
          <p:cNvGrpSpPr/>
          <p:nvPr userDrawn="1"/>
        </p:nvGrpSpPr>
        <p:grpSpPr>
          <a:xfrm>
            <a:off x="-1" y="1124295"/>
            <a:ext cx="12192001" cy="5378359"/>
            <a:chOff x="-31748" y="1122283"/>
            <a:chExt cx="11980196" cy="522200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BE34C675-F520-37BE-49EC-F0ABAEFBB03A}"/>
                </a:ext>
              </a:extLst>
            </p:cNvPr>
            <p:cNvSpPr/>
            <p:nvPr userDrawn="1"/>
          </p:nvSpPr>
          <p:spPr>
            <a:xfrm>
              <a:off x="-31747" y="1122285"/>
              <a:ext cx="11980195" cy="5222002"/>
            </a:xfrm>
            <a:custGeom>
              <a:avLst/>
              <a:gdLst/>
              <a:ahLst/>
              <a:cxnLst/>
              <a:rect l="l" t="t" r="r" b="b"/>
              <a:pathLst>
                <a:path w="35097463" h="17034337">
                  <a:moveTo>
                    <a:pt x="0" y="0"/>
                  </a:moveTo>
                  <a:lnTo>
                    <a:pt x="35097463" y="0"/>
                  </a:lnTo>
                  <a:lnTo>
                    <a:pt x="35097463" y="17034337"/>
                  </a:lnTo>
                  <a:lnTo>
                    <a:pt x="0" y="170343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CB603370-4BE0-4C79-DD80-BB5F77712233}"/>
                </a:ext>
              </a:extLst>
            </p:cNvPr>
            <p:cNvSpPr/>
            <p:nvPr userDrawn="1"/>
          </p:nvSpPr>
          <p:spPr>
            <a:xfrm>
              <a:off x="-31748" y="1122283"/>
              <a:ext cx="11980196" cy="5222002"/>
            </a:xfrm>
            <a:custGeom>
              <a:avLst/>
              <a:gdLst/>
              <a:ahLst/>
              <a:cxnLst/>
              <a:rect l="l" t="t" r="r" b="b"/>
              <a:pathLst>
                <a:path w="32070247" h="11890157">
                  <a:moveTo>
                    <a:pt x="0" y="0"/>
                  </a:moveTo>
                  <a:lnTo>
                    <a:pt x="32070247" y="0"/>
                  </a:lnTo>
                  <a:lnTo>
                    <a:pt x="32070247" y="11890157"/>
                  </a:lnTo>
                  <a:lnTo>
                    <a:pt x="0" y="1189015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 cstate="email">
                <a:alphaModFix amt="90000"/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AF410AAD-C7A6-1DF2-5A82-58E0ACDB16DC}"/>
              </a:ext>
            </a:extLst>
          </p:cNvPr>
          <p:cNvGrpSpPr/>
          <p:nvPr userDrawn="1"/>
        </p:nvGrpSpPr>
        <p:grpSpPr>
          <a:xfrm>
            <a:off x="8159562" y="6386226"/>
            <a:ext cx="4032438" cy="196279"/>
            <a:chOff x="8159561" y="6245191"/>
            <a:chExt cx="4032438" cy="196279"/>
          </a:xfrm>
        </p:grpSpPr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DF82B8A1-72F6-84C7-0D31-4120FAC66B9A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1">
              <a:extLst>
                <a:ext uri="{FF2B5EF4-FFF2-40B4-BE49-F238E27FC236}">
                  <a16:creationId xmlns:a16="http://schemas.microsoft.com/office/drawing/2014/main" id="{88A8DD86-2598-F753-1F08-4D011B02241F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pic>
        <p:nvPicPr>
          <p:cNvPr id="9" name="Image 8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412FE011-AFC2-3601-1219-9A2351A9071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6179FF9-5A57-B515-B1BE-A653EFCCA531}"/>
              </a:ext>
            </a:extLst>
          </p:cNvPr>
          <p:cNvGrpSpPr/>
          <p:nvPr userDrawn="1"/>
        </p:nvGrpSpPr>
        <p:grpSpPr>
          <a:xfrm>
            <a:off x="0" y="1014964"/>
            <a:ext cx="10538243" cy="218664"/>
            <a:chOff x="1156915" y="6221292"/>
            <a:chExt cx="10538243" cy="218664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E2C1D6C-93A6-2D75-4939-1A35EF94135C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AutoShape 11">
              <a:extLst>
                <a:ext uri="{FF2B5EF4-FFF2-40B4-BE49-F238E27FC236}">
                  <a16:creationId xmlns:a16="http://schemas.microsoft.com/office/drawing/2014/main" id="{05C431B5-7058-FA48-0AF4-629B3A7391EF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5" name="Titre 31">
            <a:extLst>
              <a:ext uri="{FF2B5EF4-FFF2-40B4-BE49-F238E27FC236}">
                <a16:creationId xmlns:a16="http://schemas.microsoft.com/office/drawing/2014/main" id="{516FC9E9-1311-6B29-BF90-5FC527D9A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26" name="Espace réservé du texte 5">
            <a:extLst>
              <a:ext uri="{FF2B5EF4-FFF2-40B4-BE49-F238E27FC236}">
                <a16:creationId xmlns:a16="http://schemas.microsoft.com/office/drawing/2014/main" id="{5E10775F-BCA9-DAF4-FEED-CA43624B47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2EBB6179-6BE3-839C-9B8B-2A0997FCAB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0165C567-AC23-CA0F-3DF7-FFCB8166E8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05EA4260-169A-CB13-F8F1-7AC992536C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1992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159561" y="6375600"/>
            <a:ext cx="4032438" cy="1962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6C192C62-D276-A0A5-56A2-FA049BAEA3A6}"/>
              </a:ext>
            </a:extLst>
          </p:cNvPr>
          <p:cNvGrpSpPr/>
          <p:nvPr userDrawn="1"/>
        </p:nvGrpSpPr>
        <p:grpSpPr>
          <a:xfrm>
            <a:off x="0" y="1036318"/>
            <a:ext cx="10538243" cy="218664"/>
            <a:chOff x="1156915" y="6221292"/>
            <a:chExt cx="10538243" cy="218664"/>
          </a:xfrm>
        </p:grpSpPr>
        <p:sp>
          <p:nvSpPr>
            <p:cNvPr id="4" name="Freeform 12">
              <a:extLst>
                <a:ext uri="{FF2B5EF4-FFF2-40B4-BE49-F238E27FC236}">
                  <a16:creationId xmlns:a16="http://schemas.microsoft.com/office/drawing/2014/main" id="{D3A46C71-0A42-4E8C-A7C0-2903930D5C6B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AutoShape 11">
              <a:extLst>
                <a:ext uri="{FF2B5EF4-FFF2-40B4-BE49-F238E27FC236}">
                  <a16:creationId xmlns:a16="http://schemas.microsoft.com/office/drawing/2014/main" id="{D4FE5ED0-7CE5-A68F-9954-BBB95774C2A5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itre 31">
            <a:extLst>
              <a:ext uri="{FF2B5EF4-FFF2-40B4-BE49-F238E27FC236}">
                <a16:creationId xmlns:a16="http://schemas.microsoft.com/office/drawing/2014/main" id="{E6D42432-CFFD-9781-5BD8-EA9098850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8" name="Espace réservé du texte 5">
            <a:extLst>
              <a:ext uri="{FF2B5EF4-FFF2-40B4-BE49-F238E27FC236}">
                <a16:creationId xmlns:a16="http://schemas.microsoft.com/office/drawing/2014/main" id="{80C083AB-EE69-13DB-D60A-DD867753B4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9" name="Espace réservé du pied de page 6">
            <a:extLst>
              <a:ext uri="{FF2B5EF4-FFF2-40B4-BE49-F238E27FC236}">
                <a16:creationId xmlns:a16="http://schemas.microsoft.com/office/drawing/2014/main" id="{B82AE3FD-F2E0-F2F7-95CA-6779B3522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10" name="Espace réservé de la date 1">
            <a:extLst>
              <a:ext uri="{FF2B5EF4-FFF2-40B4-BE49-F238E27FC236}">
                <a16:creationId xmlns:a16="http://schemas.microsoft.com/office/drawing/2014/main" id="{011523E8-A232-4CAC-1BF4-793DBBE98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323F1379-8ABF-B82A-4871-0B0C135BFB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342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549598F8-3FC9-6D79-0511-E80A10ADC4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0" name="Groupe 19">
            <a:extLst>
              <a:ext uri="{FF2B5EF4-FFF2-40B4-BE49-F238E27FC236}">
                <a16:creationId xmlns:a16="http://schemas.microsoft.com/office/drawing/2014/main" id="{AF410AAD-C7A6-1DF2-5A82-58E0ACDB16DC}"/>
              </a:ext>
            </a:extLst>
          </p:cNvPr>
          <p:cNvGrpSpPr/>
          <p:nvPr userDrawn="1"/>
        </p:nvGrpSpPr>
        <p:grpSpPr>
          <a:xfrm>
            <a:off x="8159561" y="6375600"/>
            <a:ext cx="4032438" cy="196279"/>
            <a:chOff x="8159561" y="6245191"/>
            <a:chExt cx="4032438" cy="196279"/>
          </a:xfrm>
        </p:grpSpPr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DF82B8A1-72F6-84C7-0D31-4120FAC66B9A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AutoShape 11">
              <a:extLst>
                <a:ext uri="{FF2B5EF4-FFF2-40B4-BE49-F238E27FC236}">
                  <a16:creationId xmlns:a16="http://schemas.microsoft.com/office/drawing/2014/main" id="{88A8DD86-2598-F753-1F08-4D011B02241F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" name="Groupe 3">
            <a:extLst>
              <a:ext uri="{FF2B5EF4-FFF2-40B4-BE49-F238E27FC236}">
                <a16:creationId xmlns:a16="http://schemas.microsoft.com/office/drawing/2014/main" id="{BD75D990-A44F-AEF6-8812-D20508DF8175}"/>
              </a:ext>
            </a:extLst>
          </p:cNvPr>
          <p:cNvGrpSpPr/>
          <p:nvPr userDrawn="1"/>
        </p:nvGrpSpPr>
        <p:grpSpPr>
          <a:xfrm>
            <a:off x="0" y="1036318"/>
            <a:ext cx="10538243" cy="218664"/>
            <a:chOff x="1156915" y="6221292"/>
            <a:chExt cx="10538243" cy="218664"/>
          </a:xfrm>
        </p:grpSpPr>
        <p:sp>
          <p:nvSpPr>
            <p:cNvPr id="5" name="Freeform 12">
              <a:extLst>
                <a:ext uri="{FF2B5EF4-FFF2-40B4-BE49-F238E27FC236}">
                  <a16:creationId xmlns:a16="http://schemas.microsoft.com/office/drawing/2014/main" id="{7CC6643C-656E-96D6-80E4-EEB225C9B444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AutoShape 11">
              <a:extLst>
                <a:ext uri="{FF2B5EF4-FFF2-40B4-BE49-F238E27FC236}">
                  <a16:creationId xmlns:a16="http://schemas.microsoft.com/office/drawing/2014/main" id="{BC347815-F15D-9D14-600F-87FEB03E1111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7" name="Titre 31">
            <a:extLst>
              <a:ext uri="{FF2B5EF4-FFF2-40B4-BE49-F238E27FC236}">
                <a16:creationId xmlns:a16="http://schemas.microsoft.com/office/drawing/2014/main" id="{A445D125-DFD5-092A-CC04-A87ADDBD4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8" name="Espace réservé du texte 5">
            <a:extLst>
              <a:ext uri="{FF2B5EF4-FFF2-40B4-BE49-F238E27FC236}">
                <a16:creationId xmlns:a16="http://schemas.microsoft.com/office/drawing/2014/main" id="{A44FCD35-E9EE-27D8-ECAB-ED52E5E692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8763" y="615950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pPr lvl="0"/>
            <a:r>
              <a:rPr lang="fr-FR"/>
              <a:t>Sous-titre</a:t>
            </a:r>
          </a:p>
        </p:txBody>
      </p:sp>
      <p:sp>
        <p:nvSpPr>
          <p:cNvPr id="2" name="Espace réservé du pied de page 6">
            <a:extLst>
              <a:ext uri="{FF2B5EF4-FFF2-40B4-BE49-F238E27FC236}">
                <a16:creationId xmlns:a16="http://schemas.microsoft.com/office/drawing/2014/main" id="{A714CD33-9C3E-45A4-5ECE-AA7DF9A9BA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A5B78577-BEE4-DD29-7E3C-31BBFD521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2AA3EE05-24BC-7EAD-D18E-151E1F49C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71176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us-titre gri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numéro de diapositive 4">
            <a:extLst>
              <a:ext uri="{FF2B5EF4-FFF2-40B4-BE49-F238E27FC236}">
                <a16:creationId xmlns:a16="http://schemas.microsoft.com/office/drawing/2014/main" id="{DF520AA5-45AE-4A61-85F9-5BD215081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59951" y="6655424"/>
            <a:ext cx="2743200" cy="220977"/>
          </a:xfrm>
        </p:spPr>
        <p:txBody>
          <a:bodyPr/>
          <a:lstStyle/>
          <a:p>
            <a:fld id="{4968A340-A6CB-DB4C-9998-7796241648B6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D4DB9056-37F8-4E0B-837F-27D6E99933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42000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  <p:grpSp>
        <p:nvGrpSpPr>
          <p:cNvPr id="2" name="Group 9">
            <a:extLst>
              <a:ext uri="{FF2B5EF4-FFF2-40B4-BE49-F238E27FC236}">
                <a16:creationId xmlns:a16="http://schemas.microsoft.com/office/drawing/2014/main" id="{98D3E5AC-0E28-5507-00B6-BAB0A2057E17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3" name="Arrow: Pentagon 10">
              <a:extLst>
                <a:ext uri="{FF2B5EF4-FFF2-40B4-BE49-F238E27FC236}">
                  <a16:creationId xmlns:a16="http://schemas.microsoft.com/office/drawing/2014/main" id="{ABAC3F2A-7A36-6130-91CA-13FD9EB49693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4" name="TextBox 11">
              <a:extLst>
                <a:ext uri="{FF2B5EF4-FFF2-40B4-BE49-F238E27FC236}">
                  <a16:creationId xmlns:a16="http://schemas.microsoft.com/office/drawing/2014/main" id="{F6CB841A-1F7F-73C4-ED6E-98875D79B3FD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141662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0CA33-173E-4D1C-B49B-667185D188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340EFE-0C6A-4A41-9E36-24096D9CC6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6E74C-6028-43BC-9FA9-5934B2E57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5EEF5-7CDC-4AF6-91B5-A0EE1B07E0C7}" type="slidenum">
              <a:rPr lang="fr-FR" smtClean="0"/>
              <a:t>‹N°›</a:t>
            </a:fld>
            <a:endParaRPr lang="fr-FR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5C1E8248-429A-4A05-9F91-6260D14EDD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51" y="6655425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  <p:grpSp>
        <p:nvGrpSpPr>
          <p:cNvPr id="12" name="Group 9">
            <a:extLst>
              <a:ext uri="{FF2B5EF4-FFF2-40B4-BE49-F238E27FC236}">
                <a16:creationId xmlns:a16="http://schemas.microsoft.com/office/drawing/2014/main" id="{E0E23C41-8510-460D-B8B1-9302E34336B5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13" name="Arrow: Pentagon 10">
              <a:extLst>
                <a:ext uri="{FF2B5EF4-FFF2-40B4-BE49-F238E27FC236}">
                  <a16:creationId xmlns:a16="http://schemas.microsoft.com/office/drawing/2014/main" id="{1E591082-B6DE-4BBA-B85B-8676A55E040B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4" name="TextBox 11">
              <a:extLst>
                <a:ext uri="{FF2B5EF4-FFF2-40B4-BE49-F238E27FC236}">
                  <a16:creationId xmlns:a16="http://schemas.microsoft.com/office/drawing/2014/main" id="{E5F1F098-587F-4AC0-AEDC-B53D7B393AE7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309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58AA16B-B670-4E89-8214-80BDE141C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59951" y="6655424"/>
            <a:ext cx="2743200" cy="220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>
                <a:solidFill>
                  <a:schemeClr val="bg1"/>
                </a:solidFill>
              </a:defRPr>
            </a:lvl1pPr>
          </a:lstStyle>
          <a:p>
            <a:fld id="{4305EEF5-7CDC-4AF6-91B5-A0EE1B07E0C7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3BFAA61-5083-435D-992E-236CBA3519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51" y="6655425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1985E8-7695-424F-8DD1-A5D68D5A7356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12" name="Arrow: Pentagon 10">
              <a:extLst>
                <a:ext uri="{FF2B5EF4-FFF2-40B4-BE49-F238E27FC236}">
                  <a16:creationId xmlns:a16="http://schemas.microsoft.com/office/drawing/2014/main" id="{7FD96C4D-2E16-4D2D-95E4-567503AC4E76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3" name="TextBox 11">
              <a:extLst>
                <a:ext uri="{FF2B5EF4-FFF2-40B4-BE49-F238E27FC236}">
                  <a16:creationId xmlns:a16="http://schemas.microsoft.com/office/drawing/2014/main" id="{DB675314-5BAB-4151-9D89-BABAC61E8828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1290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CEC036-26D5-4675-8A8A-6BDA11C44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47539" y="257609"/>
            <a:ext cx="1149589" cy="30291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45D416D-85A2-4EF7-98A2-736569B786CA}"/>
              </a:ext>
            </a:extLst>
          </p:cNvPr>
          <p:cNvGrpSpPr/>
          <p:nvPr userDrawn="1"/>
        </p:nvGrpSpPr>
        <p:grpSpPr>
          <a:xfrm>
            <a:off x="-5080" y="435253"/>
            <a:ext cx="874890" cy="338554"/>
            <a:chOff x="-1" y="421201"/>
            <a:chExt cx="874890" cy="338554"/>
          </a:xfrm>
        </p:grpSpPr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8A46D827-74D1-4171-957A-E2A22EAFB942}"/>
                </a:ext>
              </a:extLst>
            </p:cNvPr>
            <p:cNvSpPr/>
            <p:nvPr/>
          </p:nvSpPr>
          <p:spPr>
            <a:xfrm>
              <a:off x="0" y="470340"/>
              <a:ext cx="874889" cy="240276"/>
            </a:xfrm>
            <a:prstGeom prst="homePlate">
              <a:avLst/>
            </a:prstGeom>
            <a:solidFill>
              <a:srgbClr val="FF4B00"/>
            </a:solidFill>
            <a:ln>
              <a:solidFill>
                <a:srgbClr val="FF4B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95137F1-7F8E-4EF5-8A39-C79EE8FB2C9D}"/>
                </a:ext>
              </a:extLst>
            </p:cNvPr>
            <p:cNvSpPr txBox="1"/>
            <p:nvPr/>
          </p:nvSpPr>
          <p:spPr>
            <a:xfrm>
              <a:off x="-1" y="421201"/>
              <a:ext cx="76531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fr-FR" sz="1600" b="1">
                <a:solidFill>
                  <a:schemeClr val="bg1"/>
                </a:solidFill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C7894-3B6F-4849-8E0B-FA84C9573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82509" y="920004"/>
            <a:ext cx="10935813" cy="341632"/>
          </a:xfrm>
        </p:spPr>
        <p:txBody>
          <a:bodyPr wrap="square">
            <a:spAutoFit/>
          </a:bodyPr>
          <a:lstStyle>
            <a:lvl1pPr marL="0" indent="0">
              <a:buNone/>
              <a:defRPr lang="en-US" sz="1800" b="1" smtClean="0">
                <a:cs typeface="Calibri Light" panose="020F0302020204030204" pitchFamily="34" charset="0"/>
              </a:defRPr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mtClean="0"/>
            </a:lvl4pPr>
            <a:lvl5pPr>
              <a:defRPr lang="fr-FR"/>
            </a:lvl5pPr>
          </a:lstStyle>
          <a:p>
            <a:pPr marL="0" lvl="0" defTabSz="359627">
              <a:spcBef>
                <a:spcPts val="472"/>
              </a:spcBef>
              <a:spcAft>
                <a:spcPts val="158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1CDADF72-FABE-447E-BAF8-CBF9800E26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19827" y="375035"/>
            <a:ext cx="9254473" cy="397032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en-US" sz="2200" b="1" smtClean="0">
                <a:solidFill>
                  <a:srgbClr val="043882"/>
                </a:solidFill>
              </a:defRPr>
            </a:lvl1pPr>
            <a:lvl2pPr>
              <a:defRPr lang="en-US" sz="1800" smtClean="0"/>
            </a:lvl2pPr>
            <a:lvl3pPr>
              <a:defRPr lang="en-US" sz="1800" smtClean="0"/>
            </a:lvl3pPr>
            <a:lvl4pPr>
              <a:defRPr lang="en-US" smtClean="0"/>
            </a:lvl4pPr>
            <a:lvl5pPr>
              <a:defRPr lang="fr-FR"/>
            </a:lvl5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AE9DD586-F116-4CD1-B6EC-E6A0B71C9B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459951" y="6655424"/>
            <a:ext cx="2743200" cy="220977"/>
          </a:xfrm>
        </p:spPr>
        <p:txBody>
          <a:bodyPr/>
          <a:lstStyle/>
          <a:p>
            <a:fld id="{4305EEF5-7CDC-4AF6-91B5-A0EE1B07E0C7}" type="slidenum">
              <a:rPr lang="fr-FR" smtClean="0"/>
              <a:t>‹N°›</a:t>
            </a:fld>
            <a:endParaRPr lang="fr-FR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132CF812-1D80-4AD3-9AF2-6724CE68FE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51" y="6655425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fr-FR"/>
              <a:t>JAN 2025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78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37573" y="136525"/>
            <a:ext cx="1237465" cy="326072"/>
          </a:xfrm>
          <a:prstGeom prst="rect">
            <a:avLst/>
          </a:prstGeom>
        </p:spPr>
      </p:pic>
      <p:grpSp>
        <p:nvGrpSpPr>
          <p:cNvPr id="21" name="Groupe 20">
            <a:extLst>
              <a:ext uri="{FF2B5EF4-FFF2-40B4-BE49-F238E27FC236}">
                <a16:creationId xmlns:a16="http://schemas.microsoft.com/office/drawing/2014/main" id="{85CDAB10-DE54-57C0-8CEA-A8A8880B92C6}"/>
              </a:ext>
            </a:extLst>
          </p:cNvPr>
          <p:cNvGrpSpPr/>
          <p:nvPr userDrawn="1"/>
        </p:nvGrpSpPr>
        <p:grpSpPr>
          <a:xfrm>
            <a:off x="0" y="609648"/>
            <a:ext cx="10538243" cy="218664"/>
            <a:chOff x="1156915" y="6221292"/>
            <a:chExt cx="10538243" cy="218664"/>
          </a:xfrm>
        </p:grpSpPr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49100575-4C5D-8713-0441-B018DC83196F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046AEA2D-1D8B-F6D3-D412-47CA02765CA0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159562" y="6408096"/>
            <a:ext cx="4032438" cy="1962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Titre 31">
            <a:extLst>
              <a:ext uri="{FF2B5EF4-FFF2-40B4-BE49-F238E27FC236}">
                <a16:creationId xmlns:a16="http://schemas.microsoft.com/office/drawing/2014/main" id="{95BC53AE-256D-29D8-6A99-EEB3352E9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18181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B30DC5D4-5A02-C77E-8AE8-EE2BDDC03D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D4856AA-52C8-9318-5B37-5EE5EF2FE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D47E1841-EAF7-CEC9-0EC8-C52EF8AE32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6790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 descr="Une image contenant Graphique, Police, graphisme, capture d’écran&#10;&#10;Description générée automatiquement">
            <a:extLst>
              <a:ext uri="{FF2B5EF4-FFF2-40B4-BE49-F238E27FC236}">
                <a16:creationId xmlns:a16="http://schemas.microsoft.com/office/drawing/2014/main" id="{FBC70DFC-444C-9173-C243-0B6DC496D4F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55861" y="446836"/>
            <a:ext cx="1237465" cy="326072"/>
          </a:xfrm>
          <a:prstGeom prst="rect">
            <a:avLst/>
          </a:prstGeom>
        </p:spPr>
      </p:pic>
      <p:grpSp>
        <p:nvGrpSpPr>
          <p:cNvPr id="21" name="Groupe 20">
            <a:extLst>
              <a:ext uri="{FF2B5EF4-FFF2-40B4-BE49-F238E27FC236}">
                <a16:creationId xmlns:a16="http://schemas.microsoft.com/office/drawing/2014/main" id="{85CDAB10-DE54-57C0-8CEA-A8A8880B92C6}"/>
              </a:ext>
            </a:extLst>
          </p:cNvPr>
          <p:cNvGrpSpPr/>
          <p:nvPr userDrawn="1"/>
        </p:nvGrpSpPr>
        <p:grpSpPr>
          <a:xfrm>
            <a:off x="548" y="778426"/>
            <a:ext cx="10538243" cy="218664"/>
            <a:chOff x="1156915" y="6221292"/>
            <a:chExt cx="10538243" cy="218664"/>
          </a:xfrm>
        </p:grpSpPr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49100575-4C5D-8713-0441-B018DC83196F}"/>
                </a:ext>
              </a:extLst>
            </p:cNvPr>
            <p:cNvSpPr/>
            <p:nvPr/>
          </p:nvSpPr>
          <p:spPr>
            <a:xfrm rot="10577107">
              <a:off x="11479733" y="6221292"/>
              <a:ext cx="215425" cy="218664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046AEA2D-1D8B-F6D3-D412-47CA02765CA0}"/>
                </a:ext>
              </a:extLst>
            </p:cNvPr>
            <p:cNvSpPr/>
            <p:nvPr/>
          </p:nvSpPr>
          <p:spPr>
            <a:xfrm rot="10800000" flipV="1">
              <a:off x="1156915" y="6337969"/>
              <a:ext cx="10332000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FD0256AD-0036-D7FC-0419-F3F7B2A1E9EC}"/>
              </a:ext>
            </a:extLst>
          </p:cNvPr>
          <p:cNvGrpSpPr/>
          <p:nvPr userDrawn="1"/>
        </p:nvGrpSpPr>
        <p:grpSpPr>
          <a:xfrm>
            <a:off x="8962844" y="6411100"/>
            <a:ext cx="3229155" cy="157179"/>
            <a:chOff x="8159561" y="6245191"/>
            <a:chExt cx="4032438" cy="196279"/>
          </a:xfrm>
        </p:grpSpPr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9D006C4E-CBC4-1D52-A992-4528E01CE21C}"/>
                </a:ext>
              </a:extLst>
            </p:cNvPr>
            <p:cNvSpPr/>
            <p:nvPr/>
          </p:nvSpPr>
          <p:spPr>
            <a:xfrm rot="21377107">
              <a:off x="8159561" y="6245191"/>
              <a:ext cx="189494" cy="196279"/>
            </a:xfrm>
            <a:custGeom>
              <a:avLst/>
              <a:gdLst/>
              <a:ahLst/>
              <a:cxnLst/>
              <a:rect l="l" t="t" r="r" b="b"/>
              <a:pathLst>
                <a:path w="338917" h="338917">
                  <a:moveTo>
                    <a:pt x="0" y="0"/>
                  </a:moveTo>
                  <a:lnTo>
                    <a:pt x="338918" y="0"/>
                  </a:lnTo>
                  <a:lnTo>
                    <a:pt x="338918" y="338917"/>
                  </a:lnTo>
                  <a:lnTo>
                    <a:pt x="0" y="3389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533F40BC-0B22-C48A-900D-2413EF15E24B}"/>
                </a:ext>
              </a:extLst>
            </p:cNvPr>
            <p:cNvSpPr/>
            <p:nvPr/>
          </p:nvSpPr>
          <p:spPr>
            <a:xfrm flipV="1">
              <a:off x="8344795" y="6337319"/>
              <a:ext cx="3847204" cy="0"/>
            </a:xfrm>
            <a:prstGeom prst="line">
              <a:avLst/>
            </a:prstGeom>
            <a:ln w="38100" cap="flat">
              <a:solidFill>
                <a:srgbClr val="FF4E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2" name="Titre 31">
            <a:extLst>
              <a:ext uri="{FF2B5EF4-FFF2-40B4-BE49-F238E27FC236}">
                <a16:creationId xmlns:a16="http://schemas.microsoft.com/office/drawing/2014/main" id="{95BC53AE-256D-29D8-6A99-EEB3352E9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5400" y="75973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pied de page 6">
            <a:extLst>
              <a:ext uri="{FF2B5EF4-FFF2-40B4-BE49-F238E27FC236}">
                <a16:creationId xmlns:a16="http://schemas.microsoft.com/office/drawing/2014/main" id="{B30DC5D4-5A02-C77E-8AE8-EE2BDDC03D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D4856AA-52C8-9318-5B37-5EE5EF2FE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Sep 2025</a:t>
            </a:r>
          </a:p>
        </p:txBody>
      </p:sp>
      <p:sp>
        <p:nvSpPr>
          <p:cNvPr id="5" name="Espace réservé du numéro de diapositive 10">
            <a:extLst>
              <a:ext uri="{FF2B5EF4-FFF2-40B4-BE49-F238E27FC236}">
                <a16:creationId xmlns:a16="http://schemas.microsoft.com/office/drawing/2014/main" id="{D47E1841-EAF7-CEC9-0EC8-C52EF8AE32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62022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6">
            <a:extLst>
              <a:ext uri="{FF2B5EF4-FFF2-40B4-BE49-F238E27FC236}">
                <a16:creationId xmlns:a16="http://schemas.microsoft.com/office/drawing/2014/main" id="{133710F4-6B1C-9D7B-4CFB-DFCA5B503F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02654"/>
            <a:ext cx="4114800" cy="365125"/>
          </a:xfrm>
          <a:prstGeom prst="rect">
            <a:avLst/>
          </a:prstGeom>
        </p:spPr>
        <p:txBody>
          <a:bodyPr anchor="ctr" anchorCtr="0"/>
          <a:lstStyle>
            <a:lvl1pPr algn="ctr">
              <a:defRPr sz="1050">
                <a:latin typeface="Aptos Light" panose="020F0502020204030204" pitchFamily="34" charset="0"/>
              </a:defRPr>
            </a:lvl1pPr>
          </a:lstStyle>
          <a:p>
            <a:r>
              <a:rPr lang="fr-FR"/>
              <a:t>Strictly confidential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3E7A949-04D6-4A42-8C28-C3C4F989C4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lvl1pPr>
              <a:defRPr sz="1000">
                <a:latin typeface="Aptos Light" panose="020B0004020202020204" pitchFamily="34" charset="0"/>
              </a:defRPr>
            </a:lvl1pPr>
          </a:lstStyle>
          <a:p>
            <a:r>
              <a:rPr lang="fr-FR"/>
              <a:t>March, 1st 2025</a:t>
            </a:r>
          </a:p>
        </p:txBody>
      </p:sp>
      <p:sp>
        <p:nvSpPr>
          <p:cNvPr id="8" name="Espace réservé du numéro de diapositive 10">
            <a:extLst>
              <a:ext uri="{FF2B5EF4-FFF2-40B4-BE49-F238E27FC236}">
                <a16:creationId xmlns:a16="http://schemas.microsoft.com/office/drawing/2014/main" id="{76A1F55E-FB4E-B393-2CD1-6A01B169F2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4598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4" r:id="rId3"/>
    <p:sldLayoutId id="2147483700" r:id="rId4"/>
    <p:sldLayoutId id="2147483650" r:id="rId5"/>
    <p:sldLayoutId id="2147483685" r:id="rId6"/>
    <p:sldLayoutId id="2147483706" r:id="rId7"/>
    <p:sldLayoutId id="2147483707" r:id="rId8"/>
    <p:sldLayoutId id="2147483708" r:id="rId9"/>
    <p:sldLayoutId id="2147483709" r:id="rId10"/>
    <p:sldLayoutId id="2147483717" r:id="rId11"/>
    <p:sldLayoutId id="2147483718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043882"/>
          </a:solidFill>
          <a:latin typeface="Calibri bold" panose="020F0702030404030204" pitchFamily="34" charset="0"/>
          <a:ea typeface="Calibri bold" panose="020F0702030404030204" pitchFamily="34" charset="0"/>
          <a:cs typeface="Calibri bold" panose="020F07020304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jpeg"/><Relationship Id="rId5" Type="http://schemas.openxmlformats.org/officeDocument/2006/relationships/image" Target="../media/image10.png"/><Relationship Id="rId4" Type="http://schemas.openxmlformats.org/officeDocument/2006/relationships/image" Target="../media/image2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jpe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jpe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notesSlide" Target="../notesSlides/notesSlide1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4" Type="http://schemas.openxmlformats.org/officeDocument/2006/relationships/notesSlide" Target="../notesSlides/notesSlide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tags" Target="../tags/tag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avec coins rognés en diagonale 2">
            <a:extLst>
              <a:ext uri="{FF2B5EF4-FFF2-40B4-BE49-F238E27FC236}">
                <a16:creationId xmlns:a16="http://schemas.microsoft.com/office/drawing/2014/main" id="{274629D8-1349-83B2-0CD6-0122B34EB4A6}"/>
              </a:ext>
            </a:extLst>
          </p:cNvPr>
          <p:cNvSpPr/>
          <p:nvPr/>
        </p:nvSpPr>
        <p:spPr>
          <a:xfrm>
            <a:off x="6208295" y="2163899"/>
            <a:ext cx="5804609" cy="2136486"/>
          </a:xfrm>
          <a:prstGeom prst="snip2DiagRect">
            <a:avLst>
              <a:gd name="adj1" fmla="val 13680"/>
              <a:gd name="adj2" fmla="val 33347"/>
            </a:avLst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5" name="Espace réservé du texte 2">
            <a:extLst>
              <a:ext uri="{FF2B5EF4-FFF2-40B4-BE49-F238E27FC236}">
                <a16:creationId xmlns:a16="http://schemas.microsoft.com/office/drawing/2014/main" id="{2A58217E-2A5A-45AE-A065-50D2A769A63F}"/>
              </a:ext>
            </a:extLst>
          </p:cNvPr>
          <p:cNvSpPr>
            <a:spLocks noGrp="1"/>
          </p:cNvSpPr>
          <p:nvPr/>
        </p:nvSpPr>
        <p:spPr>
          <a:xfrm>
            <a:off x="1885950" y="2800198"/>
            <a:ext cx="8420100" cy="15001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</a:pPr>
            <a:endParaRPr lang="en-US" sz="3200" b="1" cap="all" noProof="0">
              <a:solidFill>
                <a:srgbClr val="2B3C5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3E781EC7-9BC4-48C2-A2F2-F900DB85999A}"/>
              </a:ext>
            </a:extLst>
          </p:cNvPr>
          <p:cNvSpPr>
            <a:spLocks noGrp="1"/>
          </p:cNvSpPr>
          <p:nvPr/>
        </p:nvSpPr>
        <p:spPr>
          <a:xfrm>
            <a:off x="568565" y="2707175"/>
            <a:ext cx="9382479" cy="7218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200" b="1" kern="1200" cap="all">
                <a:solidFill>
                  <a:srgbClr val="2B3C5F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4000" cap="none" noProof="0" dirty="0">
                <a:solidFill>
                  <a:schemeClr val="bg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rPr>
              <a:t>STELLANTIS </a:t>
            </a:r>
            <a:r>
              <a:rPr lang="en-US" sz="4000" cap="none" dirty="0">
                <a:solidFill>
                  <a:schemeClr val="bg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rPr>
              <a:t>FRANCE</a:t>
            </a:r>
            <a:endParaRPr lang="en-US" sz="4000" cap="none" noProof="0" dirty="0">
              <a:solidFill>
                <a:schemeClr val="bg1"/>
              </a:solidFill>
              <a:latin typeface="Calibri bold" panose="020F0702030404030204" pitchFamily="34" charset="0"/>
              <a:ea typeface="Calibri bold" panose="020F0702030404030204" pitchFamily="34" charset="0"/>
              <a:cs typeface="Calibri bold" panose="020F0702030404030204" pitchFamily="34" charset="0"/>
            </a:endParaRPr>
          </a:p>
          <a:p>
            <a:pPr>
              <a:lnSpc>
                <a:spcPct val="150000"/>
              </a:lnSpc>
            </a:pPr>
            <a:endParaRPr lang="en-US" sz="4000" b="0" cap="none" dirty="0">
              <a:solidFill>
                <a:schemeClr val="bg1"/>
              </a:solidFill>
              <a:latin typeface="Calibri bold" panose="020F0702030404030204" pitchFamily="34" charset="0"/>
              <a:ea typeface="Calibri bold" panose="020F0702030404030204" pitchFamily="34" charset="0"/>
              <a:cs typeface="Calibri bold" panose="020F07020304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chemeClr val="bg1"/>
                </a:solidFill>
                <a:cs typeface="Calibri Light" panose="020F0302020204030204" pitchFamily="34" charset="0"/>
              </a:rPr>
              <a:t>Trade-in websites performance review</a:t>
            </a:r>
            <a:endParaRPr lang="fr-FR" sz="2400" b="1" dirty="0">
              <a:solidFill>
                <a:schemeClr val="bg1"/>
              </a:solidFill>
              <a:cs typeface="Calibri Light" panose="020F0302020204030204" pitchFamily="34" charset="0"/>
            </a:endParaRPr>
          </a:p>
        </p:txBody>
      </p:sp>
      <p:sp>
        <p:nvSpPr>
          <p:cNvPr id="6" name="Espace réservé de la date 1">
            <a:extLst>
              <a:ext uri="{FF2B5EF4-FFF2-40B4-BE49-F238E27FC236}">
                <a16:creationId xmlns:a16="http://schemas.microsoft.com/office/drawing/2014/main" id="{AFA16ABF-655A-9831-63F4-4E143067A33C}"/>
              </a:ext>
            </a:extLst>
          </p:cNvPr>
          <p:cNvSpPr txBox="1">
            <a:spLocks/>
          </p:cNvSpPr>
          <p:nvPr/>
        </p:nvSpPr>
        <p:spPr>
          <a:xfrm>
            <a:off x="124968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21B7F72C-B8F1-F3E4-D93B-08DD8DDF0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815" y="2231072"/>
            <a:ext cx="3584956" cy="104523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378DC8-495E-C5D7-0E70-B740D656E6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2318" y="3232142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9651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E1DB2-A8B8-F1C4-6500-20E8BB4FB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F813DB-51F0-62BC-0D1D-A033EC46C35C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844DE83-A2B7-06CD-B423-7C885BC737BE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967E21F-5B5E-0DCB-1DBA-A5B2036D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86CDB722-E4C1-0379-AA07-E40CF0B128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2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D0A3C3E-E8F0-9C1D-4A2A-C1EB9712FC7F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00680B95-11EA-F334-5295-8C75B300FE1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83A5B5A5-B127-CF79-82C4-10A68CD8B606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10CA4514-BE54-735D-1963-FF0093D3FA6D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  <a:endParaRPr lang="en-US" sz="1600" b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5675D78F-4CB7-F6CF-DDB2-CDC7AEE715CA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D5506E7F-663E-1F9A-9BC6-0314865AC459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393CE0D3-6522-D229-DA11-44DEE6526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7564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22D5A3-D7E5-0B2E-5FAE-7B970702A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19899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CB08E29-6297-E879-F622-785DFCF305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Sum-up of trade-in performance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12948E-8532-3D3A-83DA-0665BA0802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Strictly confidential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E8BF130-B97F-6735-D36E-574575EB4D9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23AF8F-DD01-CB69-AE6A-074EC59F8B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3</a:t>
            </a:fld>
            <a:endParaRPr lang="fr-FR"/>
          </a:p>
        </p:txBody>
      </p:sp>
      <p:sp>
        <p:nvSpPr>
          <p:cNvPr id="7" name="Espace réservé de la date 4">
            <a:extLst>
              <a:ext uri="{FF2B5EF4-FFF2-40B4-BE49-F238E27FC236}">
                <a16:creationId xmlns:a16="http://schemas.microsoft.com/office/drawing/2014/main" id="{7C06DF0A-651C-6613-81E2-891BBFBA865D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A4B8D2F-8F71-CDE6-3133-39391ADDF333}"/>
              </a:ext>
            </a:extLst>
          </p:cNvPr>
          <p:cNvSpPr txBox="1"/>
          <p:nvPr/>
        </p:nvSpPr>
        <p:spPr>
          <a:xfrm>
            <a:off x="402771" y="1524000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Main </a:t>
            </a:r>
            <a:r>
              <a:rPr lang="fr-FR" err="1"/>
              <a:t>takeways</a:t>
            </a:r>
            <a:r>
              <a:rPr lang="fr-FR"/>
              <a:t> ….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A9F0EB6D-52A9-C882-8114-43720CAC57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547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22A77-1E79-9BB1-055C-D7B9FA2F6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282887-0D77-744E-EFB8-7207EB63E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22294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EXECUTIVE SUMMARY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50E3FA9-BF9D-D0ED-6954-CAEACE4E2E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0DB2AE-AEE8-99D2-91ED-83FBD8B432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ea typeface="+mn-ea"/>
              </a:rPr>
              <a:t>Global view</a:t>
            </a:r>
          </a:p>
          <a:p>
            <a:endParaRPr lang="fr-FR" sz="2400" b="1" dirty="0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48D60A-4BAC-7060-C6E3-55DBEB093718}"/>
              </a:ext>
            </a:extLst>
          </p:cNvPr>
          <p:cNvSpPr/>
          <p:nvPr/>
        </p:nvSpPr>
        <p:spPr>
          <a:xfrm>
            <a:off x="10150867" y="1314450"/>
            <a:ext cx="1931595" cy="4895850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 eaLnBrk="1" latinLnBrk="0" hangingPunct="1">
              <a:spcAft>
                <a:spcPts val="1200"/>
              </a:spcAft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62C40B-1196-A9F1-2EB5-67E4B05CB21C}"/>
              </a:ext>
            </a:extLst>
          </p:cNvPr>
          <p:cNvSpPr/>
          <p:nvPr/>
        </p:nvSpPr>
        <p:spPr>
          <a:xfrm>
            <a:off x="7562325" y="2844225"/>
            <a:ext cx="150589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Add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S&amp;Y 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that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slide</a:t>
            </a:r>
          </a:p>
        </p:txBody>
      </p:sp>
      <p:pic>
        <p:nvPicPr>
          <p:cNvPr id="3" name="Image 3">
            <a:extLst>
              <a:ext uri="{FF2B5EF4-FFF2-40B4-BE49-F238E27FC236}">
                <a16:creationId xmlns:a16="http://schemas.microsoft.com/office/drawing/2014/main" id="{23DD9409-78CD-3571-60E3-AF0B60C8D9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505236" y="5543550"/>
            <a:ext cx="1222856" cy="423496"/>
          </a:xfrm>
          <a:prstGeom prst="rect">
            <a:avLst/>
          </a:prstGeom>
        </p:spPr>
      </p:pic>
      <p:sp>
        <p:nvSpPr>
          <p:cNvPr id="12" name="Espace réservé de la date 4">
            <a:extLst>
              <a:ext uri="{FF2B5EF4-FFF2-40B4-BE49-F238E27FC236}">
                <a16:creationId xmlns:a16="http://schemas.microsoft.com/office/drawing/2014/main" id="{2258B85F-ABAB-DED8-E43D-FF93BC8341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539061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B0064D1C-E752-B65B-73E0-D97C445BB97E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46F45D-360D-BB56-2B9A-B054AAE994E9}"/>
              </a:ext>
            </a:extLst>
          </p:cNvPr>
          <p:cNvSpPr/>
          <p:nvPr/>
        </p:nvSpPr>
        <p:spPr>
          <a:xfrm>
            <a:off x="0" y="1164881"/>
            <a:ext cx="10023321" cy="5064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F457E5D2-5543-448F-CBD4-F58348DFD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4512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2B106-7A7E-D322-9557-625EB9DEB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8EC1C0D-D444-7712-B16E-04570DB3C26C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B7C21B3-A167-256E-EE29-171ED8AFF5F6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08616FA-63DF-B7F0-4771-548A70EED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6BB97416-3F30-71ED-4D55-E58CEAB42E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5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CA691E9-356E-AB54-79B7-393ED0070120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7C938613-74D8-AFC0-ED2C-FBA9AFE07C8D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90987CDF-6CF0-F775-459D-716D5861CC13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6E23B27B-B771-FEFF-20AB-3A8BC9A18E2D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4FF8EAC0-DC81-63A5-57BC-182B82F6DD3F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4A44B4F8-DA00-DC35-F37F-14D84C5AD707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</a:p>
        </p:txBody>
      </p:sp>
    </p:spTree>
    <p:extLst>
      <p:ext uri="{BB962C8B-B14F-4D97-AF65-F5344CB8AC3E}">
        <p14:creationId xmlns:p14="http://schemas.microsoft.com/office/powerpoint/2010/main" val="3874792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FFAD0-0A24-7916-ECD4-7BC4FC77F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69542-90AB-D026-290E-4BEB1CA3A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34239"/>
            <a:ext cx="10515600" cy="594299"/>
          </a:xfrm>
        </p:spPr>
        <p:txBody>
          <a:bodyPr>
            <a:normAutofit/>
          </a:bodyPr>
          <a:lstStyle/>
          <a:p>
            <a:r>
              <a:rPr lang="en-US" b="1">
                <a:ea typeface="+mn-ea"/>
              </a:rPr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B9F00-B962-BEBF-3EE1-0A44FE8C89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Leads evolution by month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3CD3C-E2C7-DCFE-5D52-EAD802FEAA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0A5C92-3439-26A6-F6CA-5832F262DD5D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 rtl="0" eaLnBrk="1" latinLnBrk="0" hangingPunct="1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D9DFD8F9-794B-9700-5709-98DDF5D9038D}"/>
              </a:ext>
            </a:extLst>
          </p:cNvPr>
          <p:cNvSpPr txBox="1"/>
          <p:nvPr/>
        </p:nvSpPr>
        <p:spPr>
          <a:xfrm>
            <a:off x="0" y="1962150"/>
            <a:ext cx="689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/>
              <a:t>All leads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376AE22-4A1A-326E-D222-4CAE747CC3C9}"/>
              </a:ext>
            </a:extLst>
          </p:cNvPr>
          <p:cNvSpPr txBox="1"/>
          <p:nvPr/>
        </p:nvSpPr>
        <p:spPr>
          <a:xfrm>
            <a:off x="7730" y="4485264"/>
            <a:ext cx="689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/>
              <a:t>NC leads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DEB66E-6BDF-D38F-9757-C3B765A003C1}"/>
              </a:ext>
            </a:extLst>
          </p:cNvPr>
          <p:cNvSpPr/>
          <p:nvPr/>
        </p:nvSpPr>
        <p:spPr>
          <a:xfrm>
            <a:off x="7562325" y="2844225"/>
            <a:ext cx="1505893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Add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S&amp;Y 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that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slide</a:t>
            </a:r>
          </a:p>
        </p:txBody>
      </p:sp>
      <p:sp>
        <p:nvSpPr>
          <p:cNvPr id="13" name="Espace réservé de la date 4">
            <a:extLst>
              <a:ext uri="{FF2B5EF4-FFF2-40B4-BE49-F238E27FC236}">
                <a16:creationId xmlns:a16="http://schemas.microsoft.com/office/drawing/2014/main" id="{052CB0C8-3C2D-9CA3-E0E9-0E72FA2975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2743200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7" name="Espace réservé de la date 4">
            <a:extLst>
              <a:ext uri="{FF2B5EF4-FFF2-40B4-BE49-F238E27FC236}">
                <a16:creationId xmlns:a16="http://schemas.microsoft.com/office/drawing/2014/main" id="{C2C71078-B410-B469-9AD2-542AED86433F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5F2D0EB-7CEB-EAB7-17D6-04416C933E2E}"/>
              </a:ext>
            </a:extLst>
          </p:cNvPr>
          <p:cNvSpPr/>
          <p:nvPr/>
        </p:nvSpPr>
        <p:spPr>
          <a:xfrm>
            <a:off x="1138759" y="1403148"/>
            <a:ext cx="8487206" cy="48413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260FFDFC-CB00-4628-3C9C-57BCDE7C5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10642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6491E-EB14-3DD7-8E23-6EDB595CE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64300-BE02-F15D-35E2-5B644C7F4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40363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4DC1C9-B848-4A46-D231-F5BB0B437F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Leads by purchase project - xP brands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D1B9F-96CE-BE61-2B74-B5B49A4320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7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4E6F4F-E6ED-40B5-568C-34CF14222017}"/>
              </a:ext>
            </a:extLst>
          </p:cNvPr>
          <p:cNvSpPr/>
          <p:nvPr/>
        </p:nvSpPr>
        <p:spPr>
          <a:xfrm>
            <a:off x="10163175" y="1212997"/>
            <a:ext cx="1908016" cy="5014191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762E9D3-43D1-35E1-E24D-8A15E27245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364236" y="6097928"/>
            <a:ext cx="1505893" cy="633510"/>
          </a:xfrm>
          <a:prstGeom prst="rect">
            <a:avLst/>
          </a:prstGeom>
        </p:spPr>
      </p:pic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30DA1D45-C22D-C027-5AAD-D2FC68A9F474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CFC5D3-78CD-2557-C40F-9C5488AD89F5}"/>
              </a:ext>
            </a:extLst>
          </p:cNvPr>
          <p:cNvSpPr/>
          <p:nvPr/>
        </p:nvSpPr>
        <p:spPr>
          <a:xfrm>
            <a:off x="93718" y="1224447"/>
            <a:ext cx="9954851" cy="5156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09ABA86F-240F-045C-20C0-06AE61F54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995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3B3A4-9406-FC5B-8689-1555EC872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07217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4509E-8508-6BB4-75E5-B2D5ACAEC7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Leads by purchase project - </a:t>
            </a:r>
            <a:r>
              <a:rPr lang="fr-FR" err="1"/>
              <a:t>xF</a:t>
            </a:r>
            <a:r>
              <a:rPr lang="fr-FR"/>
              <a:t> brands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48F2C-A6F1-C9CB-0006-99D788E6DB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8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41D246-758A-6E23-06EE-6551303E08BA}"/>
              </a:ext>
            </a:extLst>
          </p:cNvPr>
          <p:cNvSpPr/>
          <p:nvPr/>
        </p:nvSpPr>
        <p:spPr>
          <a:xfrm>
            <a:off x="10163175" y="1212997"/>
            <a:ext cx="1908016" cy="5014191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91440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D0C4B4-6C88-897C-0DFE-420C4AD83DC6}"/>
              </a:ext>
            </a:extLst>
          </p:cNvPr>
          <p:cNvSpPr/>
          <p:nvPr/>
        </p:nvSpPr>
        <p:spPr>
          <a:xfrm>
            <a:off x="5516509" y="2053650"/>
            <a:ext cx="1505893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All xF brands. </a:t>
            </a:r>
          </a:p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For instance,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need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add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Leapmotor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and Lancia,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65EF12CB-116B-FA75-B6E9-FD7CC29137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364236" y="5328248"/>
            <a:ext cx="1505893" cy="633510"/>
          </a:xfrm>
          <a:prstGeom prst="rect">
            <a:avLst/>
          </a:prstGeom>
        </p:spPr>
      </p:pic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105F67D2-6409-3706-C99E-5726D89FF5E5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1FDE9B-EF02-D421-CB70-017341AF818F}"/>
              </a:ext>
            </a:extLst>
          </p:cNvPr>
          <p:cNvSpPr/>
          <p:nvPr/>
        </p:nvSpPr>
        <p:spPr>
          <a:xfrm>
            <a:off x="93718" y="1224447"/>
            <a:ext cx="9954851" cy="5156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9653C827-52C2-5309-3F10-2513E9EF2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0852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AC776-FB7B-1C4F-9926-B6FACE904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59FB90-1FB8-36D2-942E-8DFB1095E3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7405758" cy="573088"/>
          </a:xfrm>
        </p:spPr>
        <p:txBody>
          <a:bodyPr>
            <a:normAutofit/>
          </a:bodyPr>
          <a:lstStyle/>
          <a:p>
            <a:r>
              <a:rPr lang="en-US" b="1">
                <a:ea typeface="+mn-ea"/>
              </a:rPr>
              <a:t>Traffic and lead view by brand xP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0F8E40-E708-5B32-FFB4-D4AB40E6AA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43AA1EA-6ED9-DA50-5F45-A180B05FBADC}"/>
              </a:ext>
            </a:extLst>
          </p:cNvPr>
          <p:cNvSpPr txBox="1"/>
          <p:nvPr/>
        </p:nvSpPr>
        <p:spPr>
          <a:xfrm>
            <a:off x="109538" y="1388489"/>
            <a:ext cx="1958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Traffic (Sessions)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7AB4E533-E9EF-FB91-A613-DE9C5C88024B}"/>
              </a:ext>
            </a:extLst>
          </p:cNvPr>
          <p:cNvSpPr txBox="1"/>
          <p:nvPr/>
        </p:nvSpPr>
        <p:spPr>
          <a:xfrm>
            <a:off x="-18213" y="5950139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GA4/Autobiz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D1E9D61F-6400-5237-B7F1-43D0C6E03200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69F535-5399-0C38-4400-98B1B1611C52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4AD56AF5-5D42-B9DC-C369-086FCFB20A5E}"/>
              </a:ext>
            </a:extLst>
          </p:cNvPr>
          <p:cNvSpPr txBox="1"/>
          <p:nvPr/>
        </p:nvSpPr>
        <p:spPr>
          <a:xfrm>
            <a:off x="131248" y="3498799"/>
            <a:ext cx="7906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Leads</a:t>
            </a:r>
          </a:p>
        </p:txBody>
      </p:sp>
      <p:sp>
        <p:nvSpPr>
          <p:cNvPr id="9" name="Titre 8">
            <a:extLst>
              <a:ext uri="{FF2B5EF4-FFF2-40B4-BE49-F238E27FC236}">
                <a16:creationId xmlns:a16="http://schemas.microsoft.com/office/drawing/2014/main" id="{DD7E4940-96CA-DAC2-66C9-6237C881E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33123"/>
            <a:ext cx="10515600" cy="594299"/>
          </a:xfrm>
        </p:spPr>
        <p:txBody>
          <a:bodyPr/>
          <a:lstStyle/>
          <a:p>
            <a:r>
              <a:rPr lang="fr-FR"/>
              <a:t>EXECUTIVE SUMMARY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EFB006B-32FD-32F3-BD09-BA3D25E4A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8B68C30-53AC-CB62-386E-AA0DDD4030AB}"/>
              </a:ext>
            </a:extLst>
          </p:cNvPr>
          <p:cNvSpPr/>
          <p:nvPr/>
        </p:nvSpPr>
        <p:spPr>
          <a:xfrm>
            <a:off x="526549" y="1760556"/>
            <a:ext cx="9343632" cy="1716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D361D1-AECF-C5D2-EDF3-03BB1BABA28F}"/>
              </a:ext>
            </a:extLst>
          </p:cNvPr>
          <p:cNvSpPr/>
          <p:nvPr/>
        </p:nvSpPr>
        <p:spPr>
          <a:xfrm>
            <a:off x="526549" y="3939041"/>
            <a:ext cx="9343632" cy="16871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PH_LKR_2</a:t>
            </a:r>
          </a:p>
        </p:txBody>
      </p:sp>
    </p:spTree>
    <p:extLst>
      <p:ext uri="{BB962C8B-B14F-4D97-AF65-F5344CB8AC3E}">
        <p14:creationId xmlns:p14="http://schemas.microsoft.com/office/powerpoint/2010/main" val="19918860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9E18F-23FE-1478-7C5E-ED5FFD9F8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E558A7-9829-B3A7-3268-9146478464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5474400-88E4-4075-5EE6-B1D50639BC0E}"/>
              </a:ext>
            </a:extLst>
          </p:cNvPr>
          <p:cNvSpPr txBox="1"/>
          <p:nvPr/>
        </p:nvSpPr>
        <p:spPr>
          <a:xfrm>
            <a:off x="0" y="6103550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GA4/Autobiz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54F39EC1-26BE-A07C-3FA6-69E439B4EFF0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</a:t>
            </a:r>
            <a:r>
              <a:rPr lang="en-US" noProof="0"/>
              <a:t> 2025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9242BD-2326-E56C-52D2-99997BE41097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11" name="Titre 10">
            <a:extLst>
              <a:ext uri="{FF2B5EF4-FFF2-40B4-BE49-F238E27FC236}">
                <a16:creationId xmlns:a16="http://schemas.microsoft.com/office/drawing/2014/main" id="{2E4F14A4-E3A2-71C4-08E9-96612FA25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10000"/>
            <a:ext cx="10515600" cy="594299"/>
          </a:xfrm>
        </p:spPr>
        <p:txBody>
          <a:bodyPr/>
          <a:lstStyle/>
          <a:p>
            <a:r>
              <a:rPr lang="fr-FR"/>
              <a:t>EXECUTIVE SUMMARY</a:t>
            </a:r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94CF9FC2-FF9A-C009-F0D3-90BC0A081C0E}"/>
              </a:ext>
            </a:extLst>
          </p:cNvPr>
          <p:cNvSpPr txBox="1">
            <a:spLocks/>
          </p:cNvSpPr>
          <p:nvPr/>
        </p:nvSpPr>
        <p:spPr>
          <a:xfrm>
            <a:off x="258763" y="615950"/>
            <a:ext cx="7405758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>
                <a:ea typeface="+mn-ea"/>
              </a:rPr>
              <a:t>Traffic and lead view by brand </a:t>
            </a:r>
            <a:r>
              <a:rPr lang="en-US" b="1" err="1">
                <a:ea typeface="+mn-ea"/>
              </a:rPr>
              <a:t>xF</a:t>
            </a:r>
            <a:endParaRPr lang="en-US" b="1">
              <a:ea typeface="+mn-ea"/>
            </a:endParaRPr>
          </a:p>
          <a:p>
            <a:endParaRPr lang="en-US" b="1">
              <a:solidFill>
                <a:srgbClr val="043882"/>
              </a:solidFill>
              <a:ea typeface="+mn-ea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F170F84-DC27-DE98-ED3A-5F525A2A41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BCBC41B8-1A18-6817-0697-FA7810B36C48}"/>
              </a:ext>
            </a:extLst>
          </p:cNvPr>
          <p:cNvSpPr txBox="1"/>
          <p:nvPr/>
        </p:nvSpPr>
        <p:spPr>
          <a:xfrm>
            <a:off x="109538" y="1388489"/>
            <a:ext cx="1958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Traffic (Sessions)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13EDAF0-5678-4BE5-8A92-075C389EBD43}"/>
              </a:ext>
            </a:extLst>
          </p:cNvPr>
          <p:cNvSpPr txBox="1"/>
          <p:nvPr/>
        </p:nvSpPr>
        <p:spPr>
          <a:xfrm>
            <a:off x="131248" y="3498799"/>
            <a:ext cx="7906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/>
              <a:t>Leads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259F6A-0ECC-8909-B994-665C37003637}"/>
              </a:ext>
            </a:extLst>
          </p:cNvPr>
          <p:cNvSpPr/>
          <p:nvPr/>
        </p:nvSpPr>
        <p:spPr>
          <a:xfrm>
            <a:off x="526549" y="1760556"/>
            <a:ext cx="9343632" cy="17168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FC2E86B-33DE-785D-5CD6-535765FCFE27}"/>
              </a:ext>
            </a:extLst>
          </p:cNvPr>
          <p:cNvSpPr/>
          <p:nvPr/>
        </p:nvSpPr>
        <p:spPr>
          <a:xfrm>
            <a:off x="526549" y="3939041"/>
            <a:ext cx="9343632" cy="168719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PH_LKR_2</a:t>
            </a:r>
          </a:p>
        </p:txBody>
      </p:sp>
    </p:spTree>
    <p:extLst>
      <p:ext uri="{BB962C8B-B14F-4D97-AF65-F5344CB8AC3E}">
        <p14:creationId xmlns:p14="http://schemas.microsoft.com/office/powerpoint/2010/main" val="1153292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030C2-A5A6-68BE-F1A2-3BC8F42D8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A582B7F9-9473-182B-BA2B-7D81B96E33EC}"/>
              </a:ext>
            </a:extLst>
          </p:cNvPr>
          <p:cNvSpPr txBox="1"/>
          <p:nvPr/>
        </p:nvSpPr>
        <p:spPr>
          <a:xfrm>
            <a:off x="407942" y="1009602"/>
            <a:ext cx="3889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Total leads - </a:t>
            </a:r>
            <a:r>
              <a:rPr lang="fr-FR" b="1" dirty="0">
                <a:latin typeface="Aptos" panose="020B0004020202020204" pitchFamily="34" charset="0"/>
              </a:rPr>
              <a:t>data till Jan 9th</a:t>
            </a:r>
            <a:endParaRPr lang="fr-FR" dirty="0"/>
          </a:p>
        </p:txBody>
      </p:sp>
      <p:sp>
        <p:nvSpPr>
          <p:cNvPr id="29" name="Espace réservé de la date 4">
            <a:extLst>
              <a:ext uri="{FF2B5EF4-FFF2-40B4-BE49-F238E27FC236}">
                <a16:creationId xmlns:a16="http://schemas.microsoft.com/office/drawing/2014/main" id="{566DF4DB-3BA9-877C-36ED-DC94DF0A5415}"/>
              </a:ext>
            </a:extLst>
          </p:cNvPr>
          <p:cNvSpPr txBox="1">
            <a:spLocks/>
          </p:cNvSpPr>
          <p:nvPr/>
        </p:nvSpPr>
        <p:spPr>
          <a:xfrm>
            <a:off x="117623" y="6492875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>
                <a:latin typeface="Aptos" panose="020B0004020202020204" pitchFamily="34" charset="0"/>
              </a:rPr>
              <a:t>Jan. 2026</a:t>
            </a:r>
            <a:endParaRPr lang="en-US">
              <a:latin typeface="Aptos" panose="020B00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625B7759-6CDF-4E13-3818-2DC09389B58D}"/>
              </a:ext>
            </a:extLst>
          </p:cNvPr>
          <p:cNvSpPr txBox="1"/>
          <p:nvPr/>
        </p:nvSpPr>
        <p:spPr>
          <a:xfrm>
            <a:off x="1054418" y="6510833"/>
            <a:ext cx="67722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>
                <a:latin typeface="Aptos" panose="020B0004020202020204" pitchFamily="34" charset="0"/>
              </a:rPr>
              <a:t>Source: autobiz</a:t>
            </a:r>
            <a:endParaRPr lang="fr-FR" sz="1400" b="1" u="sng">
              <a:latin typeface="Aptos" panose="020B00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94C8677-7775-861F-7FFF-60D66919370B}"/>
              </a:ext>
            </a:extLst>
          </p:cNvPr>
          <p:cNvSpPr/>
          <p:nvPr/>
        </p:nvSpPr>
        <p:spPr>
          <a:xfrm>
            <a:off x="10067025" y="1061795"/>
            <a:ext cx="1932317" cy="51751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200" noProof="0" dirty="0">
              <a:solidFill>
                <a:schemeClr val="tx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0997011-71F7-BAA3-3DAC-1E152521A983}"/>
              </a:ext>
            </a:extLst>
          </p:cNvPr>
          <p:cNvSpPr txBox="1">
            <a:spLocks/>
          </p:cNvSpPr>
          <p:nvPr/>
        </p:nvSpPr>
        <p:spPr>
          <a:xfrm>
            <a:off x="188913" y="42980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LEADS PROJECTION</a:t>
            </a:r>
            <a:endParaRPr lang="fr-FR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6F65041-43C4-6F65-7CED-7D037CDE14EF}"/>
              </a:ext>
            </a:extLst>
          </p:cNvPr>
          <p:cNvSpPr txBox="1">
            <a:spLocks/>
          </p:cNvSpPr>
          <p:nvPr/>
        </p:nvSpPr>
        <p:spPr>
          <a:xfrm>
            <a:off x="188913" y="419971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b="1"/>
              <a:t>Total leads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127967-9ED5-8135-A7B0-8EC4009DB023}"/>
              </a:ext>
            </a:extLst>
          </p:cNvPr>
          <p:cNvSpPr/>
          <p:nvPr/>
        </p:nvSpPr>
        <p:spPr>
          <a:xfrm>
            <a:off x="169249" y="1609539"/>
            <a:ext cx="9602083" cy="4534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9A2DC52-8E97-E764-BF7C-06BDBC05BC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5699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0E7FF-777B-D288-1A3E-51591F67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5DC10E32-F68B-FFE5-E453-6BA7DB95091B}"/>
              </a:ext>
            </a:extLst>
          </p:cNvPr>
          <p:cNvSpPr txBox="1"/>
          <p:nvPr/>
        </p:nvSpPr>
        <p:spPr>
          <a:xfrm>
            <a:off x="66869" y="967120"/>
            <a:ext cx="3889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NC leads - </a:t>
            </a:r>
            <a:r>
              <a:rPr lang="fr-FR" b="1" dirty="0">
                <a:latin typeface="Aptos" panose="020B0004020202020204" pitchFamily="34" charset="0"/>
              </a:rPr>
              <a:t>data till Jan 9th</a:t>
            </a:r>
            <a:endParaRPr lang="fr-FR" dirty="0"/>
          </a:p>
        </p:txBody>
      </p:sp>
      <p:sp>
        <p:nvSpPr>
          <p:cNvPr id="29" name="Espace réservé de la date 4">
            <a:extLst>
              <a:ext uri="{FF2B5EF4-FFF2-40B4-BE49-F238E27FC236}">
                <a16:creationId xmlns:a16="http://schemas.microsoft.com/office/drawing/2014/main" id="{0C108BAE-13DC-E129-3130-6DF3B6221056}"/>
              </a:ext>
            </a:extLst>
          </p:cNvPr>
          <p:cNvSpPr txBox="1">
            <a:spLocks/>
          </p:cNvSpPr>
          <p:nvPr/>
        </p:nvSpPr>
        <p:spPr>
          <a:xfrm>
            <a:off x="117623" y="6492875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>
                <a:latin typeface="Aptos" panose="020B0004020202020204" pitchFamily="34" charset="0"/>
              </a:rPr>
              <a:t>Jan. 2026</a:t>
            </a:r>
            <a:endParaRPr lang="en-US">
              <a:latin typeface="Aptos" panose="020B000402020202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E2C11AA-F944-F966-7539-3C74E222C787}"/>
              </a:ext>
            </a:extLst>
          </p:cNvPr>
          <p:cNvSpPr txBox="1"/>
          <p:nvPr/>
        </p:nvSpPr>
        <p:spPr>
          <a:xfrm>
            <a:off x="911414" y="6521548"/>
            <a:ext cx="67722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>
                <a:latin typeface="Aptos" panose="020B0004020202020204" pitchFamily="34" charset="0"/>
              </a:rPr>
              <a:t>Source: autobiz</a:t>
            </a:r>
            <a:endParaRPr lang="fr-FR" sz="1400" b="1" u="sng">
              <a:latin typeface="Aptos" panose="020B0004020202020204" pitchFamily="34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7F9B207-BA65-43BB-FBE7-EC5AAFC39C56}"/>
              </a:ext>
            </a:extLst>
          </p:cNvPr>
          <p:cNvSpPr/>
          <p:nvPr/>
        </p:nvSpPr>
        <p:spPr>
          <a:xfrm>
            <a:off x="10067025" y="1061795"/>
            <a:ext cx="1932317" cy="51751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sz="1200" noProof="0" dirty="0">
              <a:solidFill>
                <a:schemeClr val="tx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88F0CA5-72A8-3DD4-E40B-A8B6259C4A12}"/>
              </a:ext>
            </a:extLst>
          </p:cNvPr>
          <p:cNvSpPr txBox="1">
            <a:spLocks/>
          </p:cNvSpPr>
          <p:nvPr/>
        </p:nvSpPr>
        <p:spPr>
          <a:xfrm>
            <a:off x="188913" y="42980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LEADS PROJECTION</a:t>
            </a:r>
            <a:endParaRPr lang="fr-FR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A03D56B-F471-C92E-B6C4-B6FD949F1559}"/>
              </a:ext>
            </a:extLst>
          </p:cNvPr>
          <p:cNvSpPr txBox="1">
            <a:spLocks/>
          </p:cNvSpPr>
          <p:nvPr/>
        </p:nvSpPr>
        <p:spPr>
          <a:xfrm>
            <a:off x="188913" y="419971"/>
            <a:ext cx="5187950" cy="57308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b="1"/>
              <a:t>NC leads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5115F0-2E01-D18C-A7AC-F24755E3DF0C}"/>
              </a:ext>
            </a:extLst>
          </p:cNvPr>
          <p:cNvSpPr/>
          <p:nvPr/>
        </p:nvSpPr>
        <p:spPr>
          <a:xfrm>
            <a:off x="212197" y="1689228"/>
            <a:ext cx="9602083" cy="45347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42C21B57-A2C8-14BA-DEB7-75AFEB62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4992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2B716-5B98-DD98-475C-359D40E1A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801677C-6A27-1E39-FC0D-C03CAC4C64EC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603C5B1-3648-9C50-7606-52D9848AB5BF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3B0460DF-1448-8D86-CD17-5375E0CE1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18C54686-CD76-2986-4609-162D2717A3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13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E0E6081-D9C3-00BB-75DE-635A6FE501FB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A6C04ECA-F0AE-0D77-F97B-C22B101FA4AB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7A500BC8-103A-BDFB-925F-B500CD9FC621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b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99941095-6ACF-2D63-F3D2-09C9B8E19153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E5E920E5-919C-1388-011A-7717CBB5B654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0079D0AB-4D8F-33EA-3C8F-ECB010C682EB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05488E7-C795-B2C2-B163-9442ABFE6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52355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93ECED-C9B8-4BAB-0203-3C150F5F0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NC Sales Conversion</a:t>
            </a:r>
            <a:endParaRPr lang="fr-FR" b="1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8A73EE-997E-1ABE-21EC-4876B820949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7187066" cy="573088"/>
          </a:xfrm>
        </p:spPr>
        <p:txBody>
          <a:bodyPr>
            <a:normAutofit fontScale="85000" lnSpcReduction="10000"/>
          </a:bodyPr>
          <a:lstStyle/>
          <a:p>
            <a:r>
              <a:rPr lang="fr-FR" err="1">
                <a:solidFill>
                  <a:srgbClr val="000000"/>
                </a:solidFill>
                <a:latin typeface="Calibri bold" panose="020F0702030404030204"/>
              </a:rPr>
              <a:t>Analysis</a:t>
            </a:r>
            <a:r>
              <a:rPr lang="fr-FR">
                <a:solidFill>
                  <a:srgbClr val="000000"/>
                </a:solidFill>
                <a:latin typeface="Calibri bold" panose="020F0702030404030204"/>
              </a:rPr>
              <a:t> of Conversion Rates </a:t>
            </a:r>
            <a:r>
              <a:rPr lang="fr-FR" err="1">
                <a:solidFill>
                  <a:srgbClr val="000000"/>
                </a:solidFill>
                <a:latin typeface="Calibri bold" panose="020F0702030404030204"/>
              </a:rPr>
              <a:t>from</a:t>
            </a:r>
            <a:r>
              <a:rPr lang="fr-FR">
                <a:solidFill>
                  <a:srgbClr val="000000"/>
                </a:solidFill>
                <a:latin typeface="Calibri bold" panose="020F0702030404030204"/>
              </a:rPr>
              <a:t> </a:t>
            </a:r>
            <a:r>
              <a:rPr lang="en-US" err="1">
                <a:solidFill>
                  <a:srgbClr val="043882"/>
                </a:solidFill>
                <a:latin typeface="Calibri bold" panose="020F0702030404030204"/>
              </a:rPr>
              <a:t>jan</a:t>
            </a:r>
            <a:r>
              <a:rPr lang="en-US">
                <a:solidFill>
                  <a:srgbClr val="043882"/>
                </a:solidFill>
                <a:latin typeface="Calibri bold" panose="020F0702030404030204"/>
              </a:rPr>
              <a:t> 1</a:t>
            </a:r>
            <a:r>
              <a:rPr lang="en-US" baseline="30000">
                <a:solidFill>
                  <a:srgbClr val="043882"/>
                </a:solidFill>
                <a:latin typeface="Calibri bold" panose="020F0702030404030204"/>
              </a:rPr>
              <a:t>st</a:t>
            </a:r>
            <a:r>
              <a:rPr lang="en-US">
                <a:solidFill>
                  <a:srgbClr val="043882"/>
                </a:solidFill>
                <a:latin typeface="Calibri bold" panose="020F0702030404030204"/>
              </a:rPr>
              <a:t> to December 31</a:t>
            </a:r>
            <a:r>
              <a:rPr lang="en-US" baseline="30000">
                <a:solidFill>
                  <a:srgbClr val="043882"/>
                </a:solidFill>
                <a:latin typeface="Calibri bold" panose="020F0702030404030204"/>
              </a:rPr>
              <a:t>th</a:t>
            </a:r>
            <a:r>
              <a:rPr lang="en-US">
                <a:solidFill>
                  <a:srgbClr val="043882"/>
                </a:solidFill>
                <a:latin typeface="Calibri bold" panose="020F0702030404030204"/>
              </a:rPr>
              <a:t> 2025</a:t>
            </a:r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BDCFB17-8F4C-1E36-6610-DE7999FFC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FR"/>
              <a:t>Strictly confidential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536C6DC-1F67-2F23-B01C-B7A50089D35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March, 1st 2025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8B896A-8E92-338C-BD7A-E50266A994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14</a:t>
            </a:fld>
            <a:endParaRPr lang="fr-FR"/>
          </a:p>
        </p:txBody>
      </p:sp>
      <p:pic>
        <p:nvPicPr>
          <p:cNvPr id="8" name="Image 7" descr="Une image contenant capture d’écran, ligne, Parallèle, diagramme&#10;&#10;Le contenu généré par l’IA peut être incorrect.">
            <a:extLst>
              <a:ext uri="{FF2B5EF4-FFF2-40B4-BE49-F238E27FC236}">
                <a16:creationId xmlns:a16="http://schemas.microsoft.com/office/drawing/2014/main" id="{DF74718C-7A1E-5F67-4F15-1B2BC5B20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275" y="1433291"/>
            <a:ext cx="9543196" cy="2499218"/>
          </a:xfrm>
          <a:prstGeom prst="rect">
            <a:avLst/>
          </a:prstGeom>
        </p:spPr>
      </p:pic>
      <p:pic>
        <p:nvPicPr>
          <p:cNvPr id="9" name="Image 8" descr="Une image contenant texte, ligne, capture d’écran, conception&#10;&#10;Le contenu généré par l’IA peut être incorrect.">
            <a:extLst>
              <a:ext uri="{FF2B5EF4-FFF2-40B4-BE49-F238E27FC236}">
                <a16:creationId xmlns:a16="http://schemas.microsoft.com/office/drawing/2014/main" id="{D904FDFC-D16D-6DAF-0767-3BA9B469FF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"/>
          <a:stretch>
            <a:fillRect/>
          </a:stretch>
        </p:blipFill>
        <p:spPr>
          <a:xfrm>
            <a:off x="1819275" y="4016607"/>
            <a:ext cx="9182100" cy="2368502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977D26ED-A530-96CA-57FD-97695188378D}"/>
              </a:ext>
            </a:extLst>
          </p:cNvPr>
          <p:cNvSpPr txBox="1"/>
          <p:nvPr/>
        </p:nvSpPr>
        <p:spPr>
          <a:xfrm>
            <a:off x="359596" y="1910993"/>
            <a:ext cx="1021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xP dealers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FF3E761-A091-560A-FBC8-D763BAD75684}"/>
              </a:ext>
            </a:extLst>
          </p:cNvPr>
          <p:cNvSpPr txBox="1"/>
          <p:nvPr/>
        </p:nvSpPr>
        <p:spPr>
          <a:xfrm>
            <a:off x="359595" y="4548816"/>
            <a:ext cx="10210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xF dealers</a:t>
            </a:r>
          </a:p>
        </p:txBody>
      </p:sp>
      <p:sp>
        <p:nvSpPr>
          <p:cNvPr id="12" name="ZoneTexte 18">
            <a:extLst>
              <a:ext uri="{FF2B5EF4-FFF2-40B4-BE49-F238E27FC236}">
                <a16:creationId xmlns:a16="http://schemas.microsoft.com/office/drawing/2014/main" id="{3065F551-562C-BE18-4505-B6A9672FA00E}"/>
              </a:ext>
            </a:extLst>
          </p:cNvPr>
          <p:cNvSpPr txBox="1"/>
          <p:nvPr/>
        </p:nvSpPr>
        <p:spPr>
          <a:xfrm>
            <a:off x="1392979" y="6418834"/>
            <a:ext cx="87227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05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 : C1ST, 2024:2025 Lead VN type 1 , </a:t>
            </a:r>
            <a:r>
              <a:rPr lang="fr-FR" sz="1050" i="1">
                <a:solidFill>
                  <a:prstClr val="black"/>
                </a:solidFill>
              </a:rPr>
              <a:t>Extraction </a:t>
            </a:r>
            <a:r>
              <a:rPr lang="fr-FR" sz="1050" i="1" err="1">
                <a:solidFill>
                  <a:prstClr val="black"/>
                </a:solidFill>
              </a:rPr>
              <a:t>done</a:t>
            </a:r>
            <a:r>
              <a:rPr lang="fr-FR" sz="1050" i="1">
                <a:solidFill>
                  <a:prstClr val="black"/>
                </a:solidFill>
              </a:rPr>
              <a:t> on Jan 6th 2026</a:t>
            </a:r>
            <a:endParaRPr lang="fr-FR" sz="1050" i="1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r>
              <a:rPr lang="en-US" sz="1050" b="1" i="0">
                <a:solidFill>
                  <a:srgbClr val="424242"/>
                </a:solidFill>
                <a:effectLst/>
                <a:latin typeface="Segoe Sans"/>
              </a:rPr>
              <a:t>*Since orders can be placed up to three months after a lead is received, these figures are subject to daily changes</a:t>
            </a:r>
            <a:r>
              <a:rPr lang="fr-FR" sz="1050" i="1">
                <a:solidFill>
                  <a:prstClr val="black"/>
                </a:solidFill>
                <a:latin typeface="Calibri" panose="020F0502020204030204"/>
              </a:rPr>
              <a:t> 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D13EC0-2602-1609-8C17-F30B91652D0C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618413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B738D-B45A-BBFA-48DB-5E7E9FC0D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7" y="156375"/>
            <a:ext cx="10515600" cy="594299"/>
          </a:xfrm>
        </p:spPr>
        <p:txBody>
          <a:bodyPr>
            <a:normAutofit fontScale="90000"/>
          </a:bodyPr>
          <a:lstStyle/>
          <a:p>
            <a:r>
              <a:rPr lang="en-US" sz="3600" b="1"/>
              <a:t>NC Sales Conversion</a:t>
            </a:r>
            <a:br>
              <a:rPr lang="en-US" sz="4000" b="1">
                <a:solidFill>
                  <a:srgbClr val="002060"/>
                </a:solidFill>
              </a:rPr>
            </a:br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8974D65-00D8-6E51-6C44-4543EED6D3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15</a:t>
            </a:fld>
            <a:endParaRPr lang="fr-FR"/>
          </a:p>
        </p:txBody>
      </p:sp>
      <p:sp>
        <p:nvSpPr>
          <p:cNvPr id="15" name="ZoneTexte 18">
            <a:extLst>
              <a:ext uri="{FF2B5EF4-FFF2-40B4-BE49-F238E27FC236}">
                <a16:creationId xmlns:a16="http://schemas.microsoft.com/office/drawing/2014/main" id="{E4B0AE5C-12E9-6109-1B54-1B1991DE4152}"/>
              </a:ext>
            </a:extLst>
          </p:cNvPr>
          <p:cNvSpPr txBox="1"/>
          <p:nvPr/>
        </p:nvSpPr>
        <p:spPr>
          <a:xfrm>
            <a:off x="77343" y="6372941"/>
            <a:ext cx="87227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05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 : C1ST, 2024:2025 Lead VN type 1 , </a:t>
            </a:r>
            <a:r>
              <a:rPr lang="fr-FR" sz="1050" i="1">
                <a:solidFill>
                  <a:prstClr val="black"/>
                </a:solidFill>
              </a:rPr>
              <a:t>Extraction </a:t>
            </a:r>
            <a:r>
              <a:rPr lang="fr-FR" sz="1050" i="1" err="1">
                <a:solidFill>
                  <a:prstClr val="black"/>
                </a:solidFill>
              </a:rPr>
              <a:t>done</a:t>
            </a:r>
            <a:r>
              <a:rPr lang="fr-FR" sz="1050" i="1">
                <a:solidFill>
                  <a:prstClr val="black"/>
                </a:solidFill>
              </a:rPr>
              <a:t> on </a:t>
            </a:r>
            <a:r>
              <a:rPr lang="fr-FR" sz="1050" i="1" err="1">
                <a:solidFill>
                  <a:prstClr val="black"/>
                </a:solidFill>
              </a:rPr>
              <a:t>December</a:t>
            </a:r>
            <a:r>
              <a:rPr lang="fr-FR" sz="1050" i="1">
                <a:solidFill>
                  <a:prstClr val="black"/>
                </a:solidFill>
              </a:rPr>
              <a:t> 12th</a:t>
            </a:r>
            <a:endParaRPr lang="fr-FR" sz="1050" i="1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r>
              <a:rPr lang="en-US" sz="1050" b="1" i="0">
                <a:solidFill>
                  <a:srgbClr val="424242"/>
                </a:solidFill>
                <a:effectLst/>
                <a:latin typeface="Segoe Sans"/>
              </a:rPr>
              <a:t>*Since orders can be placed up to three months after a lead is received, these figures are subject to daily changes</a:t>
            </a:r>
            <a:r>
              <a:rPr lang="fr-FR" sz="1050" i="1">
                <a:solidFill>
                  <a:prstClr val="black"/>
                </a:solidFill>
                <a:latin typeface="Calibri" panose="020F0502020204030204"/>
              </a:rPr>
              <a:t>  </a:t>
            </a:r>
          </a:p>
        </p:txBody>
      </p:sp>
      <p:sp>
        <p:nvSpPr>
          <p:cNvPr id="19" name="Espace réservé du texte 2">
            <a:extLst>
              <a:ext uri="{FF2B5EF4-FFF2-40B4-BE49-F238E27FC236}">
                <a16:creationId xmlns:a16="http://schemas.microsoft.com/office/drawing/2014/main" id="{2FB45505-B0CC-7184-E634-B70EB4484CC1}"/>
              </a:ext>
            </a:extLst>
          </p:cNvPr>
          <p:cNvSpPr txBox="1">
            <a:spLocks/>
          </p:cNvSpPr>
          <p:nvPr/>
        </p:nvSpPr>
        <p:spPr>
          <a:xfrm>
            <a:off x="258707" y="694885"/>
            <a:ext cx="7796231" cy="5730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fr-FR" sz="2400" kern="1200" dirty="0">
                <a:solidFill>
                  <a:schemeClr val="tx1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800" err="1">
                <a:solidFill>
                  <a:srgbClr val="000000"/>
                </a:solidFill>
                <a:effectLst/>
                <a:latin typeface="Calibri bold" panose="020F0702030404030204"/>
              </a:rPr>
              <a:t>Analysis</a:t>
            </a:r>
            <a:r>
              <a:rPr lang="fr-FR" sz="1800">
                <a:solidFill>
                  <a:srgbClr val="000000"/>
                </a:solidFill>
                <a:effectLst/>
                <a:latin typeface="Calibri bold" panose="020F0702030404030204"/>
              </a:rPr>
              <a:t> of Conversion Rates </a:t>
            </a:r>
            <a:r>
              <a:rPr lang="fr-FR" sz="1800" err="1">
                <a:solidFill>
                  <a:srgbClr val="000000"/>
                </a:solidFill>
                <a:effectLst/>
                <a:latin typeface="Calibri bold" panose="020F0702030404030204"/>
              </a:rPr>
              <a:t>from</a:t>
            </a:r>
            <a:r>
              <a:rPr lang="fr-FR" sz="1800">
                <a:solidFill>
                  <a:srgbClr val="000000"/>
                </a:solidFill>
                <a:effectLst/>
                <a:latin typeface="Calibri bold" panose="020F0702030404030204"/>
              </a:rPr>
              <a:t> </a:t>
            </a:r>
            <a:r>
              <a:rPr lang="en-US" sz="1800" err="1">
                <a:solidFill>
                  <a:srgbClr val="043882"/>
                </a:solidFill>
                <a:latin typeface="Calibri bold" panose="020F0702030404030204"/>
              </a:rPr>
              <a:t>jan</a:t>
            </a:r>
            <a:r>
              <a:rPr lang="en-US" sz="1800">
                <a:solidFill>
                  <a:srgbClr val="043882"/>
                </a:solidFill>
                <a:latin typeface="Calibri bold" panose="020F0702030404030204"/>
              </a:rPr>
              <a:t> 1</a:t>
            </a:r>
            <a:r>
              <a:rPr lang="en-US" sz="1800" baseline="30000">
                <a:solidFill>
                  <a:srgbClr val="043882"/>
                </a:solidFill>
                <a:latin typeface="Calibri bold" panose="020F0702030404030204"/>
              </a:rPr>
              <a:t>st</a:t>
            </a:r>
            <a:r>
              <a:rPr lang="en-US" sz="1800">
                <a:solidFill>
                  <a:srgbClr val="043882"/>
                </a:solidFill>
                <a:latin typeface="Calibri bold" panose="020F0702030404030204"/>
              </a:rPr>
              <a:t> to December 31</a:t>
            </a:r>
            <a:r>
              <a:rPr lang="en-US" sz="1800" baseline="30000">
                <a:solidFill>
                  <a:srgbClr val="043882"/>
                </a:solidFill>
                <a:latin typeface="Calibri bold" panose="020F0702030404030204"/>
              </a:rPr>
              <a:t>th</a:t>
            </a:r>
            <a:r>
              <a:rPr lang="en-US" sz="1800">
                <a:solidFill>
                  <a:srgbClr val="043882"/>
                </a:solidFill>
                <a:latin typeface="Calibri bold" panose="020F0702030404030204"/>
              </a:rPr>
              <a:t> 2025</a:t>
            </a:r>
            <a:endParaRPr lang="fr-FR" sz="18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914225-B3D7-07A1-F67E-8B6434FB2C0C}"/>
              </a:ext>
            </a:extLst>
          </p:cNvPr>
          <p:cNvSpPr/>
          <p:nvPr/>
        </p:nvSpPr>
        <p:spPr>
          <a:xfrm>
            <a:off x="189759" y="5039306"/>
            <a:ext cx="11295280" cy="637161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l" rtl="0" eaLnBrk="1" latinLnBrk="0" hangingPunct="1">
              <a:buNone/>
            </a:pPr>
            <a:endParaRPr lang="en-US" sz="1200" dirty="0">
              <a:solidFill>
                <a:schemeClr val="tx1"/>
              </a:solidFill>
              <a:latin typeface="Calibri" panose="020F0502020204030204" pitchFamily="34" charset="0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82083BB3-513D-87CE-A54A-7EEE309B1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07" y="1509333"/>
            <a:ext cx="11804205" cy="2984277"/>
          </a:xfrm>
          <a:prstGeom prst="rect">
            <a:avLst/>
          </a:prstGeom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15E919BE-45FE-3E1D-5CBF-CF8D3470B6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311862F-B40C-B047-8C7D-C7F708EC039F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4032945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35F97-4CA5-E265-8C3A-AA528AD57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1">
            <a:extLst>
              <a:ext uri="{FF2B5EF4-FFF2-40B4-BE49-F238E27FC236}">
                <a16:creationId xmlns:a16="http://schemas.microsoft.com/office/drawing/2014/main" id="{DA66BD3E-C1A2-784B-6742-A14FDB44AB87}"/>
              </a:ext>
            </a:extLst>
          </p:cNvPr>
          <p:cNvSpPr txBox="1">
            <a:spLocks/>
          </p:cNvSpPr>
          <p:nvPr/>
        </p:nvSpPr>
        <p:spPr>
          <a:xfrm>
            <a:off x="733361" y="534526"/>
            <a:ext cx="10394405" cy="669353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92075"/>
            <a:r>
              <a:rPr lang="en-US" sz="2000" b="1">
                <a:solidFill>
                  <a:srgbClr val="043882"/>
                </a:solidFill>
                <a:latin typeface="Calibri bold" panose="020F0702030404030204" pitchFamily="34" charset="0"/>
                <a:ea typeface="+mn-ea"/>
                <a:cs typeface="Calibri bold" panose="020F0702030404030204" pitchFamily="34" charset="0"/>
              </a:rPr>
              <a:t>autobiz lead management - VN type 1 – C1ST</a:t>
            </a:r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BC34D7A5-D605-5544-46D4-8CA86753FF80}"/>
              </a:ext>
            </a:extLst>
          </p:cNvPr>
          <p:cNvSpPr txBox="1">
            <a:spLocks/>
          </p:cNvSpPr>
          <p:nvPr/>
        </p:nvSpPr>
        <p:spPr>
          <a:xfrm>
            <a:off x="0" y="6655424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2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JAN 2025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691120-F310-357A-42CA-18BDB17867AB}"/>
              </a:ext>
            </a:extLst>
          </p:cNvPr>
          <p:cNvSpPr txBox="1"/>
          <p:nvPr/>
        </p:nvSpPr>
        <p:spPr>
          <a:xfrm>
            <a:off x="234565" y="729347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err="1"/>
              <a:t>xP</a:t>
            </a:r>
            <a:endParaRPr lang="fr-FR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245E54-0064-0FEB-96A8-05A3D6E4201E}"/>
              </a:ext>
            </a:extLst>
          </p:cNvPr>
          <p:cNvSpPr txBox="1"/>
          <p:nvPr/>
        </p:nvSpPr>
        <p:spPr>
          <a:xfrm>
            <a:off x="6391275" y="713943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err="1"/>
              <a:t>xF</a:t>
            </a:r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6960E2-DE5A-8F4B-2996-2E182F9D8BB0}"/>
              </a:ext>
            </a:extLst>
          </p:cNvPr>
          <p:cNvSpPr/>
          <p:nvPr/>
        </p:nvSpPr>
        <p:spPr>
          <a:xfrm>
            <a:off x="154755" y="5314311"/>
            <a:ext cx="5846487" cy="973023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00B050"/>
                </a:solidFill>
              </a:rPr>
              <a:t>Conversion to sales 5.3% (+0.6 pt vs other sources) </a:t>
            </a:r>
            <a:endParaRPr lang="en-US" sz="1200">
              <a:solidFill>
                <a:srgbClr val="00B050"/>
              </a:solidFill>
            </a:endParaRPr>
          </a:p>
          <a:p>
            <a:pPr algn="ctr"/>
            <a:r>
              <a:rPr lang="en-US" sz="1200" b="1"/>
              <a:t>62% of leads qualified, -1pt MoM (-1 vs other source)</a:t>
            </a:r>
          </a:p>
          <a:p>
            <a:pPr algn="ctr"/>
            <a:r>
              <a:rPr lang="en-US" sz="1200" b="1"/>
              <a:t>14% Nurturing, ~MoM (~ vs other sources)</a:t>
            </a:r>
          </a:p>
          <a:p>
            <a:pPr algn="ctr"/>
            <a:r>
              <a:rPr lang="en-US" sz="1200" b="1"/>
              <a:t>16% discarded, +1 pt MoM (-2 pts vs other sources) </a:t>
            </a:r>
          </a:p>
          <a:p>
            <a:pPr algn="ctr"/>
            <a:r>
              <a:rPr lang="en-US" sz="1200" b="1"/>
              <a:t>6% New or archived, ~MoM (+4 pts vs other sources)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815CEF-4063-8B1C-7503-B9608B175788}"/>
              </a:ext>
            </a:extLst>
          </p:cNvPr>
          <p:cNvSpPr/>
          <p:nvPr/>
        </p:nvSpPr>
        <p:spPr>
          <a:xfrm>
            <a:off x="6345513" y="5276211"/>
            <a:ext cx="5846487" cy="973023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00B050"/>
                </a:solidFill>
              </a:rPr>
              <a:t>Average 2.8% conversion rates (+1 pt vs other sources)</a:t>
            </a:r>
          </a:p>
          <a:p>
            <a:pPr algn="ctr"/>
            <a:r>
              <a:rPr lang="en-US" sz="1200" b="1"/>
              <a:t>37% of leads qualified, -1pt MoM (-11 pts vs other sources)</a:t>
            </a:r>
          </a:p>
          <a:p>
            <a:pPr algn="ctr"/>
            <a:r>
              <a:rPr lang="en-US" sz="1200" b="1"/>
              <a:t>12% Nurturing, -~ MoM (-4 pts vs other sources)</a:t>
            </a:r>
          </a:p>
          <a:p>
            <a:pPr algn="ctr"/>
            <a:r>
              <a:rPr lang="en-US" sz="1200" b="1"/>
              <a:t>36% discarded, +1 pt MoM (+11pts vs  other sources) </a:t>
            </a:r>
          </a:p>
          <a:p>
            <a:pPr algn="ctr"/>
            <a:r>
              <a:rPr lang="en-US" sz="1200" b="1"/>
              <a:t>10% New or archived, -1 pt MoM (+4pts vs other sources).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7458DF42-716E-5C2C-F123-5FC798154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21927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sz="2800" b="1">
                <a:ea typeface="+mn-ea"/>
              </a:rPr>
              <a:t>SALES PERFORMANCE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3A0345C-946A-B5D7-9B6F-6EA35A6EE826}"/>
              </a:ext>
            </a:extLst>
          </p:cNvPr>
          <p:cNvSpPr txBox="1"/>
          <p:nvPr/>
        </p:nvSpPr>
        <p:spPr>
          <a:xfrm>
            <a:off x="77343" y="6372941"/>
            <a:ext cx="872276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sz="105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Source : C1ST, 2024:2025 Lead VN type 1 , </a:t>
            </a:r>
            <a:r>
              <a:rPr lang="fr-FR" sz="1050" i="1">
                <a:solidFill>
                  <a:prstClr val="black"/>
                </a:solidFill>
              </a:rPr>
              <a:t>Extraction </a:t>
            </a:r>
            <a:r>
              <a:rPr lang="fr-FR" sz="1050" i="1" err="1">
                <a:solidFill>
                  <a:prstClr val="black"/>
                </a:solidFill>
              </a:rPr>
              <a:t>done</a:t>
            </a:r>
            <a:r>
              <a:rPr lang="fr-FR" sz="1050" i="1">
                <a:solidFill>
                  <a:prstClr val="black"/>
                </a:solidFill>
              </a:rPr>
              <a:t> on </a:t>
            </a:r>
            <a:r>
              <a:rPr lang="fr-FR" sz="1050" i="1" err="1">
                <a:solidFill>
                  <a:prstClr val="black"/>
                </a:solidFill>
              </a:rPr>
              <a:t>December</a:t>
            </a:r>
            <a:r>
              <a:rPr lang="fr-FR" sz="1050" i="1">
                <a:solidFill>
                  <a:prstClr val="black"/>
                </a:solidFill>
              </a:rPr>
              <a:t> 12th</a:t>
            </a:r>
            <a:endParaRPr lang="fr-FR" sz="1050" i="1">
              <a:solidFill>
                <a:prstClr val="black"/>
              </a:solidFill>
              <a:latin typeface="Calibri" panose="020F0502020204030204"/>
            </a:endParaRPr>
          </a:p>
          <a:p>
            <a:pPr lvl="0">
              <a:defRPr/>
            </a:pPr>
            <a:r>
              <a:rPr lang="en-US" sz="1050" b="1" i="0">
                <a:solidFill>
                  <a:srgbClr val="424242"/>
                </a:solidFill>
                <a:effectLst/>
                <a:latin typeface="Segoe Sans"/>
              </a:rPr>
              <a:t>*Since orders can be placed up to three months after a lead is received, these figures are subject to daily changes</a:t>
            </a:r>
            <a:r>
              <a:rPr lang="fr-FR" sz="1050" i="1">
                <a:solidFill>
                  <a:prstClr val="black"/>
                </a:solidFill>
                <a:latin typeface="Calibri" panose="020F0502020204030204"/>
              </a:rPr>
              <a:t> 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B5D7D4BD-D6A2-7E7F-229F-ED3D5409E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0926" y="926375"/>
            <a:ext cx="12156478" cy="5005250"/>
          </a:xfrm>
          <a:prstGeom prst="rect">
            <a:avLst/>
          </a:prstGeom>
        </p:spPr>
      </p:pic>
      <p:pic>
        <p:nvPicPr>
          <p:cNvPr id="7" name="Image 6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1F709292-B8FC-A6F4-E6C5-C05E0CD41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13165" y="869202"/>
            <a:ext cx="12192000" cy="5178987"/>
          </a:xfrm>
          <a:prstGeom prst="rect">
            <a:avLst/>
          </a:prstGeom>
        </p:spPr>
      </p:pic>
      <p:pic>
        <p:nvPicPr>
          <p:cNvPr id="12" name="Image 11" descr="Une image contenant texte, diagramme, Tracé, ligne&#10;&#10;Le contenu généré par l’IA peut être incorrect.">
            <a:extLst>
              <a:ext uri="{FF2B5EF4-FFF2-40B4-BE49-F238E27FC236}">
                <a16:creationId xmlns:a16="http://schemas.microsoft.com/office/drawing/2014/main" id="{E5EE907E-54E8-7210-BE88-ED7C3DEA31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43" y="1289485"/>
            <a:ext cx="5932199" cy="3673039"/>
          </a:xfrm>
          <a:prstGeom prst="rect">
            <a:avLst/>
          </a:prstGeom>
        </p:spPr>
      </p:pic>
      <p:pic>
        <p:nvPicPr>
          <p:cNvPr id="18" name="Image 17" descr="Une image contenant texte, diagramme, Tracé, ligne&#10;&#10;Le contenu généré par l’IA peut être incorrect.">
            <a:extLst>
              <a:ext uri="{FF2B5EF4-FFF2-40B4-BE49-F238E27FC236}">
                <a16:creationId xmlns:a16="http://schemas.microsoft.com/office/drawing/2014/main" id="{80159987-5184-B886-79EA-0121FE2B5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7303" y="1301597"/>
            <a:ext cx="6164697" cy="3692172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27D2BD90-9AC6-87EC-05B8-60B12312E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3529F89-2053-642A-977D-DACB842AD7E2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17527331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64884-7D83-8B7D-F6AB-9BC886D4F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6479AD-97D4-5C80-D9B5-A9F9F5766FE7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9F8FD0D-90BB-B5CB-B38C-4BDCE9A22415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2DE7025D-57D7-8402-C451-ECAD326C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0026D4DE-F65E-1904-A68B-ED5440EE0F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17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F830F52-4E1E-A6DB-D301-3C30274B46D4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DBA98375-E1B0-FBA7-9DE2-11D3010F696C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6DFA513D-668B-2531-CD04-935A78133E72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79F2FF0F-8DB9-A7DE-F081-77A822418505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D7758814-086C-FAE3-0337-200FFCFD56CE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3D9AA6F3-0343-4BB9-A214-A720DAEEA2DE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4FAF151E-8524-2EC5-0202-A33DC025B1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9457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9A7F1-DE79-7A17-07CE-BD5B5EE9D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6AA177-A3EA-C31D-4D35-9C1E5F5CB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8A758F4-E252-DE59-95AB-513C3A72C1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2433A99-C9EF-3043-A38C-8BF2DF3824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3CB8B05-0AEF-2952-4B47-C7B67D39B851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17A3CAF-F61C-975D-BE18-5F7C67265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927"/>
            <a:ext cx="990193" cy="990193"/>
          </a:xfrm>
          <a:prstGeom prst="rect">
            <a:avLst/>
          </a:prstGeom>
        </p:spPr>
      </p:pic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46BE0E82-3A5B-62E2-3B34-295FC9CCE8F4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19C591-C9B2-7966-9996-3C072A66CBC2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8AD93FA-31EE-5970-6C5E-9500770765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66224A5B-D82D-A3A6-C408-A8571BB11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D3E766D3-A67D-0CA0-B721-A25B2AD7D9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23A00F0A-5687-883B-3B3E-6A16258B5C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04615DA-5563-CD70-3AE2-4CA548229946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</p:spTree>
    <p:extLst>
      <p:ext uri="{BB962C8B-B14F-4D97-AF65-F5344CB8AC3E}">
        <p14:creationId xmlns:p14="http://schemas.microsoft.com/office/powerpoint/2010/main" val="4692197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36F5-2B86-1742-F7C9-0924146A5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3D3D3-E847-91DF-9D19-F60DD6F14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8FA255-C892-1EA6-3179-37B39F8673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FAF3CD-8297-3869-65A9-6A04BFA1AC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FB1EC142-5356-93A8-89E4-70D39E9A00C6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02A043A1-FCAA-986C-E584-F01BD9E30D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968" y="21927"/>
            <a:ext cx="990193" cy="990193"/>
          </a:xfrm>
          <a:prstGeom prst="rect">
            <a:avLst/>
          </a:prstGeom>
        </p:spPr>
      </p:pic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6F84BBFA-75EE-0CFE-E4BD-5E2F1C0F753A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24D419-D843-4CE5-C3A8-4170A3C970C2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05AC17F-E1AF-37F1-1984-DE548EFA7E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C40946A-8A22-D0CC-561E-0438DEDCC1C9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61FB09A4-B563-101F-D455-DC75C37480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509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5945C-52DD-62FF-BD96-3A665DF55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46AB26-ED27-FE2B-E836-FBD714FDE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8A3886-1400-0269-2054-4B3D1321D1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11F689-64A3-9DEF-95C6-4526F14607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9942F466-DBE5-B129-1566-FF168F62CC3D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1382B0A6-E9F4-D76B-0D24-0CABA8BD1A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968" y="21927"/>
            <a:ext cx="990193" cy="990193"/>
          </a:xfrm>
          <a:prstGeom prst="rect">
            <a:avLst/>
          </a:prstGeom>
        </p:spPr>
      </p:pic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E7070903-1B16-7016-7D13-B06C5BB9170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D428F1-44E4-6194-9EC8-DB907C1974C0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A93750-8DEC-A714-AC13-A740C30E6880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107ACC-6C57-F4F3-6AC4-8CFDD06CF7B2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8CFA096-602B-B3F7-0F6F-2140DEA916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723644C-1A2F-6D22-9537-C2856F61F54A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018F3305-2F9F-D7CB-1BFB-C53EC77C90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99586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73A5D-56AB-BBC8-E601-181169962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1E84BF-F2EB-27A3-4C16-2D717133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324346-95D7-931F-DC39-670207F5C9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669AC8-1B4E-50B1-18DC-DB6DCDD34D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426E48B4-54E8-6681-A77C-71E171FA2762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pic>
        <p:nvPicPr>
          <p:cNvPr id="5" name="Image 6">
            <a:extLst>
              <a:ext uri="{FF2B5EF4-FFF2-40B4-BE49-F238E27FC236}">
                <a16:creationId xmlns:a16="http://schemas.microsoft.com/office/drawing/2014/main" id="{B74E1E59-C209-60C2-C5EF-B9746E1D1D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968" y="21927"/>
            <a:ext cx="990193" cy="990193"/>
          </a:xfrm>
          <a:prstGeom prst="rect">
            <a:avLst/>
          </a:prstGeom>
        </p:spPr>
      </p:pic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E079F9C-836E-4207-6E9A-D419B1BD6E9F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B05ED7-16CE-ED62-3A35-5397FA42E722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AEA13D2-43BD-2008-2779-AFD60F510D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908940D-E7C1-4167-F973-8EB43E9229D4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D06F3638-C2B8-2826-94B9-71B475729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6669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EF727-F135-72B7-1AED-D04DA12B3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75C881-086F-A707-16B5-26B1D8C30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1FE2FA6-9470-2BAA-ED26-8A5AD195394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DA76C0-DF05-1AF5-1B66-739C29349C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6DB3D09F-AA58-8309-1416-0B661D469494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03D7A913-DB8C-ED54-6EE6-CB36BB92D87A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50EF55-8A6E-3248-AEA5-828A53171777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F4EA0DB7-CE0D-1F20-180E-B4034DC32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630EF511-0758-A6E6-D952-E661DED52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977A118-FCBE-80C2-1251-6CBD31710E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88E4A2C2-B774-E3DA-8662-BAC1B84FDF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4B862F5-2B8B-DA67-63CF-58D9E217BB39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2B86841-2B40-2AF7-4E1C-5F08C68BC78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47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D581C-560B-F029-D5F9-E9D7609D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833815-6CA0-7BAC-C6AA-4109A6204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282F69F-F5DE-D0B5-657C-34E13E71313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962B78-4704-18C0-E2E9-CD078E156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854760BC-1191-0A45-CCC3-D864098FB16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DB4E7632-CFD5-012B-52BA-9F4A015FC2D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955D60-6BF7-77E3-6AF9-F57D13F7F296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F27E26D-25D8-06EA-580A-1E5796136C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F9A6894-6832-543C-3145-2495C878CCC2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3100075-4218-F833-FADE-3404870E8C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1279225-0570-14AB-D6B3-13645BD7D7C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770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FB435-063D-EBD7-9C4D-3D736607E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8A5CDB-76D8-C2E4-8121-8FF12B0DF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09D3D4F-7148-73E7-E5E8-68DFE10599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C79D0E2-C585-E78D-3A12-F64154C3E5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B26DCF62-1A1B-9A1C-DE44-8E578E95AE45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D089638-706B-85F6-B0E1-B86CA1D7B2D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D35D83-B236-268E-A9C8-2AD788FA28A5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855377-915F-060E-C3C6-641B64C06890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EA2269-7D3C-4297-18A5-C45D6A507701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4EB92E55-6E0D-6254-E4B2-F3587A8A59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07C913E-89BA-6A16-DCE9-2C16E27D5D1E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D49DCB0F-3330-5F65-92E1-173A9AA80C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E0424DC-E253-485B-1118-569C9D7F72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129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F74A6-EFCD-2E94-263F-7A63119DE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62CA28-C60E-9A98-22F3-97D560B0B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F9BF57F-45FC-AA8E-47D9-BD53BC3D99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F0DAD44-96CD-AB3F-AC18-38678F4026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7225BF9B-493E-61AA-30CC-52B6F5AC2B40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5EE54AF6-8565-93E1-2186-750526F89438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5548B5-BE48-4052-D06F-BCBE0656C0C7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EEA806B-7CC7-11DE-4BF7-DC14BFB538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37C69F1-0A6C-F7A7-64E8-B2DC44A951E5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15123B02-AF10-084D-40E3-3F497A9F81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C3840FC-FC29-6531-66A2-6078063BC3C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40" t="26086" r="91809" b="60801"/>
          <a:stretch/>
        </p:blipFill>
        <p:spPr>
          <a:xfrm>
            <a:off x="5986816" y="156626"/>
            <a:ext cx="1082152" cy="893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6223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525D-B80D-2A91-D741-F9DC124EE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BE4370-7491-A087-9A7E-8F2726D4A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78E9C57-9DC4-A564-14DD-698E18538A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F947F59-BAEE-6D91-B3AF-D948BEC1AD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05EE50B-0B0C-66B8-0B1E-276BC3F802BB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DBCED703-5F0E-265D-3645-5EAB1B4C1A8C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E5443A-2E11-BA9F-0084-98E4416FA495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AC70D10A-3E33-2F48-DF19-E05E3FAB7B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56500D3D-9D07-59A7-DABA-25CC2D094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5E1C335D-41D6-5A92-8E2E-AC71135EB3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B7458214-B30B-3712-4764-10A1C4C6E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5344D9-B6F1-E1C8-1519-12185F9AB80E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A1DCD90-B8E3-A99B-7569-520C0EBB53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0109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8A05C-74F2-2712-9D8B-8A5EF0020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F6A316-7FBE-955A-F943-4F78FDCD0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738439F-B960-3639-761C-B8C0FA6ED6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2BF136-643F-A7CE-3269-9FEECE59C0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45F01B21-96C2-7E57-89D3-B9ECAF1A361F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0DC019D-D6C9-DDE6-5CE0-06E011CE5D3F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24C20F-F2AC-AE4A-40AF-A2F3B0021454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7B7F429-E87B-BF05-B54C-7C2E00CD44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4F83A4C-360E-5DE3-8B0A-8E82092C095A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073570FA-E51A-EC1B-9A40-842CE26CA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34B3073-DF3E-7539-08BA-A05290C45A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421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A6E71-FBCB-CA73-1204-28F835109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8B811A-6362-1ABA-4452-852816A2B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83DDF9-CEA8-51FF-DF7B-B613504DD5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F69F0FF-4A48-B9F0-54A8-37B55977B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B1A73CA8-8BA4-B00F-59A6-652F7004C8AF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37A7BC3D-C00F-1D88-A47A-48ABAF74F743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04C66C-8D57-C8C9-8982-EF429B85CB2A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28EE86-AE2D-1B83-B199-EC58211121E1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95E781-DF29-4156-93D2-3C53BBE555A9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418962EF-363B-4510-2A34-7EEF0B18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AA98A6E-FFAE-5018-ECC4-7507EC96228C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7679C11E-DB01-5170-F60B-176080ABD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1A14A51B-DBCB-C141-1178-5459517387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1958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EBCD9-C230-33E2-94A9-4095BFAB8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38056D-7CBE-1CB6-B7A5-6C5AB97AB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3E18C7E-C520-06F4-CF05-8ED8044CBD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86F37B9-681F-BCDC-9D25-89417EAF1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F6613085-15FC-C36A-F1F5-900A1D03F260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1F5ED04-525A-4FF1-61A5-2A41338EDA7F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A26500-F938-6629-E9CA-4646DD7C4BA9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94384D0-638C-CB2C-7A4D-E5CEEC30B5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C4EC3AF-DE4E-7772-99B8-5C73D46D2EB0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185377A4-1CA8-589B-DEF1-237BB5FDE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F13C3C1-E8B5-5FE1-032E-1478E7763E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6603" y="103848"/>
            <a:ext cx="963836" cy="96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3223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97884-E8C4-168D-234D-FFCA32D9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811AF1-E466-4A0E-3B54-6A5EE7749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F09716A-D8A0-59C0-6C20-96E35EBC34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128DC2-E174-C6E0-5249-4B433E9B55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2A14E16C-BD96-ECA9-4445-67044633F02D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1096E33F-2E1D-A8B4-426E-9AAE16933C2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73679C-154E-937C-35DF-BFD7049D6DFA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E0188AA4-443C-8CE1-9D53-A234E36C6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378CEB47-0346-FE07-F316-A8CBC72100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665B2141-8DA5-E903-80B6-1309D98A03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84E62DC-1B79-FA4D-09C2-E5DD2E12D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59C0BC-E778-E1C0-04F8-CC58DD3EB014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80A260B-2623-BA0B-2DB5-4F62CF3291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7817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D9BD2-84F4-C960-9EF6-6924FDF17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3E16AC-0994-1BD6-DEFE-2F649DD6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43DE6AC-792F-2D64-5712-DDE58574040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EC693C3-B3C4-BD5D-43C0-7367953B6D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43CFB62-EC74-6F38-40FE-FBAF5B9F7C78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8255CF7E-517D-46ED-A7BB-33BCF6319A8B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B468500-FB8B-78E2-BF3B-AAC710E81532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2E9C712-DF3E-CC3C-3FEC-05561A8443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AC5BB1D-2B82-7506-E7E0-F8D19FD26534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5E30BAE7-FC21-AB63-D652-C6111701EF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88B3ADE-052C-D740-595E-ADBACE7965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279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D254F-CBFF-B389-9004-A26DFE013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C77463-2BFD-D4B4-249A-C5B993D27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B5AF7DB-8AF4-DCA9-D5BA-B2B5D8A3A7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89C7DE-B36F-4D5C-11F7-998A45DCD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C34E63DF-2851-5D90-4F80-2C0E2ACC706E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59E3AC08-CB45-4190-6A68-588C72EF9059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5C812E-5910-513A-CD64-5541742B64AF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02F191-3853-394A-54B4-F8BBFA7B54FC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6509CC-A05E-0AD3-FDB3-70034AB069D7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0C7F911E-8599-2482-EBD0-537EAA468E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5D44C98-0E44-04A4-4157-75C5580C72B1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98060B03-B144-1AC6-B59F-8A7E42FD4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FC445A3C-0DCE-F204-D58B-86C884CC83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825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3129A-8C7F-F02F-593F-9B9A50AA4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1026F1-211E-6CE1-E59A-9CF839BA8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61AA13A-6545-E10A-3805-1E80F6CA4D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133A3D5-8CD1-85EE-6B2C-ACEC47775F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1DBCB17-BF7E-AEEF-BC6F-34377CA78C2C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FC4E2665-F576-B6FD-AE4A-03D8C91EDC1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98C72C-00E3-DBC7-F187-C9A1A6C2BBC9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718B4B4-0141-3131-9029-F1C2241FEC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78684FA-90F7-8063-D5E5-E01371234FC4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2F235527-B4B8-F627-6747-C7DE9FCBA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24830AD-AF17-ACB2-3CB9-E782AC7868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84750"/>
            <a:ext cx="862400" cy="8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374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2839A-8055-EBC6-51A8-FB192F0D3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932F4A-FD29-02DF-1647-4AF22118C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1EA667-B99E-FDDE-C6BD-711904EA937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491108-E4FD-3148-160E-C2A5850C56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32FE2BAF-C7B5-C52B-FCFF-961B3179B075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70C9ACB6-7BD4-666B-108F-C3DC6E198E99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458790-68FC-E13D-A949-5563FADE3A55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32D2E3D4-EB9B-A3EF-3DBC-528DE1A2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888BD6BF-1518-FB24-B91F-6F10389CD0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521DC346-2997-FC24-07FF-10F185623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2B4800DA-01E7-CDE0-99C3-1FA890ABE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8FCEE22-E5D5-A612-5D2C-B208A9821CEA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E3EFA49-C2D1-7868-98D7-434CB58316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6321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5BCB-FCB1-5878-5F05-C97F13627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AADD59-25A0-985F-92CF-C2EB06E84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1A720F3-3917-CE57-1155-737B3F015B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88C700-177B-318D-B6D2-D9FA845F14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720871B5-850E-132A-A869-74358C43CE4A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5DA82832-273F-77E5-6201-880DB0D3BD75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4727E2-4BA0-5259-6953-C1365AD2567B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5703869-FA9C-96B4-C9DC-7AE5748AE8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526716A-511E-6ECC-0A2B-3C4F61655C57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F6D462A0-5119-25DA-1AE0-7A3F96290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D8F6BFFA-0EDD-98BB-F965-12B7831099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899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9A8EE-7927-9E19-B24A-F2FC6ABEE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78E29B-BAD9-B7F0-C3F1-2ADA7B10E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2B50F21-03C4-A8AD-84C6-99151E176D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6A8A1ED-302F-233A-2100-EDF7EBB9E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093B12B-89E8-0C58-6FA3-6DDBFBC25563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C77A139B-9D01-92E7-B3AC-BDDAC8E9090D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032E20-F1F7-705F-7C89-DCF786A5E6C5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72611C-3C7B-AE02-5288-61C6590CDD36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64B9C3-DC66-5B2B-3766-41CDAF4539E5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DA55D57A-A65F-8A52-F736-7751ED49CE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43B24B9-2FFE-3C4C-FFFB-86C30039170A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5A1FD18B-6E57-F45C-23FB-41BEBC504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9906DFF-326E-2472-871B-0D64CEDA9F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8703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0275A-ECFD-1613-E1A7-9EF8D1335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DEECBB-F102-D332-A98F-8E4921BFB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C915853-30E9-689E-3F5C-EF20C6566C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79CE67B-6B79-1BBC-658D-BB375F1A0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E96DB5B-6D93-363C-74FE-B445480E66B6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B18FD210-8860-5016-E81E-5AA11337469A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1E77F6-5D85-DD50-0F22-6D6D8EEEC8A5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9798AF0-34FD-B8AF-BA0C-3EA492D72E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6D15090-F90B-7805-AFCA-B9A36C5FF128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ACCD722-69EE-50E7-DCED-5B8EB69D2C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27A5BC0-5173-8595-2899-93C5A6FD3E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72" y="156478"/>
            <a:ext cx="746016" cy="74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8695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DFC70-DECC-5CA0-71E9-9EF21D876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E22A6B-6C66-F146-0C0B-714C6BB63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D1CA417-2EDA-9F49-187F-2B927246CD2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C9294D-4BF7-ABAD-8F4B-474D479B5D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9DFF0090-3E37-6FF9-3BEB-4B092E25E731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4731DE60-717B-3969-6EAD-E34B96B794D4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F45C58-28BD-8FCF-B69A-AADE56FDA913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B36E4441-0BB5-E8C6-4A58-2B519D039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0FA10675-F5C9-D123-6D8F-44EB2DFD0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47DA3A84-EF20-B60C-D4CD-A49D3059C0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85E77419-5D05-1A46-D2E8-FC9193657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EC18AAF-20E2-0057-60BA-A465B416524E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" name="Image 2">
            <a:extLst>
              <a:ext uri="{FF2B5EF4-FFF2-40B4-BE49-F238E27FC236}">
                <a16:creationId xmlns:a16="http://schemas.microsoft.com/office/drawing/2014/main" id="{AB216AA3-1532-3539-E437-7CC36380BC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4837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86EF4-FF1B-7027-1B8F-FD4516E55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756F22-8A7D-BE75-FBA2-14A70797C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B0DB1B6-F128-6C3B-68D2-014E7F3EF0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2BC909C-1F6B-F44A-41BE-33F97F52A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F242CA0-9489-E987-DBCF-754B15D45D6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7A8C8B7D-257B-4762-27DE-5ABF773D8E07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892527-0819-CCBD-CED7-B04A6DC4198A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D64ABA4-CB2F-023E-1654-627895B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18A489B-1D3D-EB9C-5B93-F17EBE5697A1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E76B6106-7CC4-97F4-E436-6433A7178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2">
            <a:extLst>
              <a:ext uri="{FF2B5EF4-FFF2-40B4-BE49-F238E27FC236}">
                <a16:creationId xmlns:a16="http://schemas.microsoft.com/office/drawing/2014/main" id="{3F59DBD3-10B3-E044-2D4E-F757F3527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9736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C2ED6-8500-B3F4-364D-1438B567B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BC430-63C1-8545-BEEF-83647FA7D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038E9E-87B2-6E46-2588-82ED586F43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722C15-93CF-26BA-6E73-7AE77BE24E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0337CBD7-4B5B-4C30-25EC-CF72B10F76D0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154FAEA5-04EE-2E44-A7B5-29F3C3A37CD3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7A5B0F-9163-3467-3148-DD7F15F0EB02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FE0C53-6B5B-9CCB-8B7D-CE44720AD495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DC278D-F70D-134F-3720-C8F56A75A457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198F5D9-ED0D-6F99-2AD5-211E3BD129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526CFFA-1ACF-FBC8-56D9-FBD7A9874CCD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AED8C9CB-A439-7C16-F209-F5162BA14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2">
            <a:extLst>
              <a:ext uri="{FF2B5EF4-FFF2-40B4-BE49-F238E27FC236}">
                <a16:creationId xmlns:a16="http://schemas.microsoft.com/office/drawing/2014/main" id="{499D1D32-6CF0-BE88-202E-9192B23C94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2375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1CEF7-B214-FC08-F2CC-B0BBA3868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6F653F-110D-1CC9-DC2E-DB4ECB748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570BF6-7A4B-184A-14B1-A79A51FA25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B8DD06C-FB52-2E7D-887D-DCBA6CA05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E13EAFC0-71D2-2D10-4F6F-F0535C337239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95D1C393-5C9F-7143-C4BE-9F84F5784326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1DD9EF-DEC1-3B55-1DF2-F4F3774E68BB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42DF847-760F-8685-92FE-BA0F1C82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C398041-A283-FB1A-C60F-16B73BA2885E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3312DEE8-9DE6-B0F6-3E9C-5C973F7A7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2">
            <a:extLst>
              <a:ext uri="{FF2B5EF4-FFF2-40B4-BE49-F238E27FC236}">
                <a16:creationId xmlns:a16="http://schemas.microsoft.com/office/drawing/2014/main" id="{B881BF15-0CDF-7933-AB5C-F5BD1063C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521" y="211973"/>
            <a:ext cx="857370" cy="6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3187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087A3-0235-2BE9-F147-FD9F84C7A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3B44D6-02BB-362F-A51D-D10E4D4F8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302277-ABE0-60F1-E7BF-37210D1996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1FA1599-DFC7-D560-537C-B1CFA8DA57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4B082D66-3BD7-0726-0CC2-69DDB3474E60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0F639B8C-D9FF-1C80-78B7-1E2FA39B737E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FBBAA41-D50A-1F46-E665-D6091A86FAE1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506EA394-62F9-8DAF-4DA4-EDC75E60C9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2B771FB2-F5C8-A508-AA0C-35EEDBCF4B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C4E35A5E-9EEC-20CE-A811-AEC574C6C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E2BB5F14-4494-35FD-6FC7-4C932EF68C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A3DCF41-4F5F-C99A-8435-C7931873EB1F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B6CFAC-C1D1-2504-96B1-42C2184759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8144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A528-962C-64FF-6D1B-C87DF6E5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507361-6C16-44C8-9600-88DBBFC9E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0DBA005-42AE-1E44-B5FF-2ADE8DD396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655B0C-602E-A1F0-80BA-912FFC4A33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87D4C390-4F8E-BB2C-2736-34226B06A88D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73F47167-B304-4B38-F152-78DC46ADBCAC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CF4C4C-C4F4-84A1-49E8-CEF034CAC164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629BB90-5B35-6DE0-8BAB-71AB55BB28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7B6D05B-3CD4-03C3-F70A-89E2740909AC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791F993C-D48B-10A3-8ABB-038C11FA4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A4D51F9-B4DA-D34A-7227-724D581286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5344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79A0D-F44F-3916-455E-F066B0FB7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E412A1-B448-39E0-2EE5-ACA0837C2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10246BD-0F6E-6A93-48C6-5D1C2B306C9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CDFD98-E3C5-E740-2B05-A81888221F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AE53E5E1-DABE-F907-765B-CB18DB47B63B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9A4962DA-E4AD-657F-729E-BA1AFF06FFC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9D9167-6BE6-2A71-6AD3-5CCABBE2D51F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BB4883-B060-BA8A-749F-A60DE159FE43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A5A06F-1F7F-E46B-0ED1-EA042587C40F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6755055-FDBF-9743-5B5D-D8C71B3E26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B64D8E7-B24A-5163-AAD4-4DB80128E601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BF5E87C5-E616-DB71-07F7-1E31BBA74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61B8C6E-6C5C-CDC4-A7BE-865A63371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2470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A13E4-CA45-6C47-C88F-B4434EC4F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A6C272-6B57-D043-549F-28BCEB394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20579E-C51B-E741-3902-C701B6B8B4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AF382-224C-3561-C36C-3AA3730D4B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FAE42550-1CDE-E7BB-9569-50BF57DFFBF2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3DDE1AB0-65A6-1021-C220-BF52F1E4CF56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B80244-F964-152B-BD8C-D59EE6FE1146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AD6A79C-B584-1585-B2AF-85F30937A1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1F41298-28C8-DE10-A7E1-7B88F8E2B933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5B83938F-E7A3-2C22-9230-C175F3A83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A754F58-C9F1-9399-72E4-C7F21988D5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2951" y="250095"/>
            <a:ext cx="756509" cy="756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5097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85056-3252-74A5-1E36-9EA2EED23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D6F347-195A-AE4B-59F5-E3BB534AB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52DA60-AE83-71E6-84D1-27D12CE76D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5780E0-E0FC-1048-A25A-513A72D507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C7C3D04A-1355-419D-A4FC-DBC83DB61F25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45DE3394-D15A-36D0-3BF9-33D20F48B0C7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1DFA593-AA92-492B-F257-164DC48DBF3D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4BB8C75D-8315-F55C-2DB7-FA69B123F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0CA39D51-3B97-508D-0239-81CF6EF16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18EC7631-35DC-C833-A6C4-8175D3CB0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A617A384-CF4F-3A4E-FDE9-00AB176D7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C38E9FA-254F-C2D8-2E55-BD4451965E18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6613168C-F223-1E54-E818-50391727D9D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344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192FA-4BB2-3BD7-3B80-13D9BA92C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1F5D45-8495-DAEE-5058-0EE5606FE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DF3E3-D955-FF84-546B-9E0ABA143D2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52D158B-FBF0-3F68-07DF-8DE5BD7C24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975AE1F7-A1D2-2787-AB04-40AA49EFF6C1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36AD65F-1A07-5E5B-7C84-C67782BAB019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E9B4F4-4332-5DE4-05DB-36620123EDE4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2673776-DCE5-7DE1-2938-62187A0908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053199D-1B19-0509-4FC4-19F20B2BD1B3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60A64D8E-EAE5-AAA2-D4C4-711EE6407F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BC1A3C4-6592-2C69-83EA-FFF541181C9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0887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9E278-A6CD-7962-8CB6-A0B510011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993A65-5904-3832-75F8-EAD0F7127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D1FD338-C349-AF59-1F20-31B1537AB77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71D1F21-C6A1-928B-F8AA-06BC45E7D2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8D02547B-9F59-A307-E112-34862DCA153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D974CDA3-1317-EC03-8803-A633F72A98D2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F42229-4C16-9B0C-09E0-7EA43844FB14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E1646-9349-9EAF-D148-388C224CE470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CF0167-A5DE-2EA5-0E5F-1CD4CD3FDA39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D25CE46-BCCF-E1AF-A86C-80347586D4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7E5A0C5-4CB4-CA32-8B23-DA0C7CDDB420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7A932066-1392-28EA-CA4D-011D782532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24DDD31-8954-81D7-30DF-E9DB1BAAED5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8708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20DBE-EA5D-262E-227B-1F2A75E05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112C3F-4BEE-EB2F-B739-582A0FE16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747DDE6-B196-CBF3-15BD-7CE93EA955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7F5F8C9-EA22-925A-B4A7-72BE23191E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22A6B991-8934-ADEE-4D04-474A38C37047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2A4B0E1D-2971-D024-6786-F7B622F2D3C2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A86A59-4A8D-0D74-E1DE-6DA4A82363A6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FF183DF-B159-561B-E4C3-74D208A3D5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FAF4629-852B-5E69-DC2A-20691C749E99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E14BC867-5D87-DAAF-728D-1AE75240F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F8A932F-D456-5D13-69FE-9B27A248B9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5731" r="85895" b="30104"/>
          <a:stretch/>
        </p:blipFill>
        <p:spPr>
          <a:xfrm>
            <a:off x="6096000" y="113584"/>
            <a:ext cx="933915" cy="90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4406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690BC-F885-4530-941E-1D56CEBF0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A0A81B-0394-24A4-47F5-9EF3D1187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559" y="193896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TRAFFICS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F4CD89-D428-E365-F65C-917EB376BE9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09" y="738317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Traffic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9A66AD3-31CC-2C28-2794-191939208B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B1A3CAD2-1CF6-EB91-283B-B8137C2ECCC5}"/>
              </a:ext>
            </a:extLst>
          </p:cNvPr>
          <p:cNvSpPr txBox="1"/>
          <p:nvPr/>
        </p:nvSpPr>
        <p:spPr>
          <a:xfrm>
            <a:off x="0" y="6340233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GA4/</a:t>
            </a:r>
            <a:r>
              <a:rPr lang="fr-FR" sz="1200" i="1" err="1"/>
              <a:t>Autobiz</a:t>
            </a:r>
            <a:endParaRPr lang="fr-FR" sz="1200" i="1"/>
          </a:p>
        </p:txBody>
      </p:sp>
      <p:sp>
        <p:nvSpPr>
          <p:cNvPr id="9" name="Espace réservé de la date 1">
            <a:extLst>
              <a:ext uri="{FF2B5EF4-FFF2-40B4-BE49-F238E27FC236}">
                <a16:creationId xmlns:a16="http://schemas.microsoft.com/office/drawing/2014/main" id="{680023C8-7A67-CE46-D1BF-21F2AEA0127F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F914E-CEA5-CD46-AC18-98249F581CA7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09F8124C-FBD6-5004-B071-DF5A664DC2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1854" y="615950"/>
            <a:ext cx="2172690" cy="2115363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C40640B8-500C-6539-B9F0-7DBFB9CD9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7736" y="3494184"/>
            <a:ext cx="3616808" cy="2374110"/>
          </a:xfrm>
          <a:prstGeom prst="rect">
            <a:avLst/>
          </a:prstGeom>
        </p:spPr>
      </p:pic>
      <p:pic>
        <p:nvPicPr>
          <p:cNvPr id="29" name="Image 2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B80A6B6F-3F12-E1EF-A289-F938893E6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01044" y="6916163"/>
            <a:ext cx="6382641" cy="3829584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D6BA7BFF-A2B7-B1C4-B15A-39D1E2CF33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D21F6C1-42B9-5FB1-19E6-5C7D919C150F}"/>
              </a:ext>
            </a:extLst>
          </p:cNvPr>
          <p:cNvSpPr/>
          <p:nvPr/>
        </p:nvSpPr>
        <p:spPr>
          <a:xfrm>
            <a:off x="438365" y="1332616"/>
            <a:ext cx="9452083" cy="49042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PH_LKR_1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7CE36AD-639F-419A-ACE2-3F0942068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234" y="285132"/>
            <a:ext cx="1295400" cy="36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48834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B5A2A-22B6-9BF3-D1F4-10B0C650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ACBB2A-0680-C600-89DB-23CA3A0FC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5544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81A7DF8-A34F-88ED-E25B-54D28F7308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14795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acquisition channel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ADCD40-266E-CD27-DD36-7EBB94CFB0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E469E4A5-E0B9-B1A8-2813-848A53A63C31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1479788F-E485-90BA-A95A-996B493540D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B02591-FD19-F75D-B2EB-4DBA61DB2075}"/>
              </a:ext>
            </a:extLst>
          </p:cNvPr>
          <p:cNvSpPr/>
          <p:nvPr/>
        </p:nvSpPr>
        <p:spPr>
          <a:xfrm>
            <a:off x="10026073" y="145146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F2977643-99D2-B62A-03B6-0057E4DCAD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237167" y="533744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981E1D-F448-DAD8-F1B9-44B20CAB8CAD}"/>
              </a:ext>
            </a:extLst>
          </p:cNvPr>
          <p:cNvSpPr/>
          <p:nvPr/>
        </p:nvSpPr>
        <p:spPr>
          <a:xfrm>
            <a:off x="109538" y="1376819"/>
            <a:ext cx="9788227" cy="4916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1A4FB498-BEB3-8015-EB5D-95B10E0A6C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AAC4E855-D715-DDC9-9F45-231A54CAF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234" y="285132"/>
            <a:ext cx="1295400" cy="36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081645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F71D6-0F36-1366-40CF-03197C3C9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471B1A4-104F-1B3E-312C-57EFD8E7B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71472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D364E4-424F-B2A8-B664-C2B6838B99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1621" y="638738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main website CTA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B41CB6-9E84-24C9-F13E-F1453AFE4A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5C40D1C1-3349-FB9F-CBA8-860DA2F9C210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71DD25EA-D02F-3DA8-7FA8-DD043F46CA64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19D611A-4070-7A02-25D4-678A28387AC5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99CAC1-663C-16C2-6715-F5C5D9CE88AB}"/>
              </a:ext>
            </a:extLst>
          </p:cNvPr>
          <p:cNvSpPr/>
          <p:nvPr/>
        </p:nvSpPr>
        <p:spPr>
          <a:xfrm>
            <a:off x="2239033" y="3992136"/>
            <a:ext cx="1431925" cy="1791699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614D18-437C-3B62-94A5-0A5014643C2A}"/>
              </a:ext>
            </a:extLst>
          </p:cNvPr>
          <p:cNvSpPr/>
          <p:nvPr/>
        </p:nvSpPr>
        <p:spPr>
          <a:xfrm>
            <a:off x="5516509" y="2053650"/>
            <a:ext cx="150589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Display the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different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CTA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related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to main </a:t>
            </a:r>
            <a:r>
              <a:rPr lang="fr-FR" sz="1600" err="1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website</a:t>
            </a:r>
            <a:r>
              <a:rPr lang="fr-FR" sz="160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highlight>
                  <a:srgbClr val="FFFF00"/>
                </a:highlight>
              </a:rPr>
              <a:t> source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2C9904F1-6002-2DE8-B43A-0B46B1F0D7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423616"/>
            <a:ext cx="1505893" cy="63351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1CD0CAC-96E2-6017-8BC5-2B68AF455932}"/>
              </a:ext>
            </a:extLst>
          </p:cNvPr>
          <p:cNvSpPr/>
          <p:nvPr/>
        </p:nvSpPr>
        <p:spPr>
          <a:xfrm>
            <a:off x="188914" y="1211826"/>
            <a:ext cx="9304792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26083600-FE07-9E87-FB6A-20810FEF1E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FD5B7184-7A5A-742E-A72F-5FD8450695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234" y="285132"/>
            <a:ext cx="1295400" cy="36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42122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E63D9-4A73-76D1-2E97-C994D0AE3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CBE9EA-19EB-2102-B8EA-F4616662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7" y="183190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LEAD DEEP DIVE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82A9B9-FDFB-22BA-2EFE-7DF26599FD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12244886" cy="573088"/>
          </a:xfrm>
        </p:spPr>
        <p:txBody>
          <a:bodyPr>
            <a:normAutofit/>
          </a:bodyPr>
          <a:lstStyle/>
          <a:p>
            <a:pPr marL="92075"/>
            <a:r>
              <a:rPr lang="en-US" b="1">
                <a:ea typeface="+mn-ea"/>
              </a:rPr>
              <a:t>By marketing code</a:t>
            </a:r>
          </a:p>
          <a:p>
            <a:endParaRPr lang="fr-FR" sz="2400" b="1">
              <a:solidFill>
                <a:srgbClr val="043882"/>
              </a:solidFill>
              <a:latin typeface="Calibri bold" panose="020F0702030404030204" pitchFamily="34" charset="0"/>
              <a:ea typeface="+mn-ea"/>
              <a:cs typeface="Calibri bold" panose="020F0702030404030204" pitchFamily="34" charset="0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472F65-67B8-942C-CE87-852204D81F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A88250-4A72-4719-B696-DC572B6C1A1F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 Light" panose="020B0004020202020204" pitchFamily="34" charset="0"/>
              <a:ea typeface="+mn-ea"/>
              <a:cs typeface="+mn-cs"/>
            </a:endParaRPr>
          </a:p>
        </p:txBody>
      </p:sp>
      <p:sp>
        <p:nvSpPr>
          <p:cNvPr id="4" name="ZoneTexte 2">
            <a:extLst>
              <a:ext uri="{FF2B5EF4-FFF2-40B4-BE49-F238E27FC236}">
                <a16:creationId xmlns:a16="http://schemas.microsoft.com/office/drawing/2014/main" id="{3B862A66-B99F-2D7F-984B-55109EE1D06A}"/>
              </a:ext>
            </a:extLst>
          </p:cNvPr>
          <p:cNvSpPr txBox="1"/>
          <p:nvPr/>
        </p:nvSpPr>
        <p:spPr>
          <a:xfrm>
            <a:off x="-815" y="6345866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/>
              <a:t>Source : Autobiz</a:t>
            </a:r>
          </a:p>
        </p:txBody>
      </p:sp>
      <p:sp>
        <p:nvSpPr>
          <p:cNvPr id="7" name="Espace réservé de la date 1">
            <a:extLst>
              <a:ext uri="{FF2B5EF4-FFF2-40B4-BE49-F238E27FC236}">
                <a16:creationId xmlns:a16="http://schemas.microsoft.com/office/drawing/2014/main" id="{14DCF5C7-56EF-4E66-1443-BBB8EB487961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December 2025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AA103C-BC90-74EE-B8CE-E4EF4CC1C8D9}"/>
              </a:ext>
            </a:extLst>
          </p:cNvPr>
          <p:cNvSpPr/>
          <p:nvPr/>
        </p:nvSpPr>
        <p:spPr>
          <a:xfrm>
            <a:off x="9921263" y="1320922"/>
            <a:ext cx="2045118" cy="4921128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93A78C8-9207-9D49-D41F-519D238279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272"/>
          <a:stretch/>
        </p:blipFill>
        <p:spPr>
          <a:xfrm>
            <a:off x="10190875" y="5220323"/>
            <a:ext cx="1505893" cy="63351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35AAE44-B0C6-94B4-3022-DB552349E2D5}"/>
              </a:ext>
            </a:extLst>
          </p:cNvPr>
          <p:cNvSpPr/>
          <p:nvPr/>
        </p:nvSpPr>
        <p:spPr>
          <a:xfrm>
            <a:off x="109538" y="1416195"/>
            <a:ext cx="9602083" cy="49272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FA03573E-C1F5-DECF-C93F-81D765816C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B0B96D85-DF78-217B-E7A6-6CF1144F4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234" y="285132"/>
            <a:ext cx="1295400" cy="36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03184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74DF8-F48A-24B5-1904-BC33C4EB3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DA753FD-6CBC-E2DB-A9BB-6640F5AB4245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19401CE-E5B2-7F30-B861-631DB8F21F8C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DIVE ANALYSIS</a:t>
            </a: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453F1B25-8E83-FF45-CF75-14479B694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0EB48A52-F3CF-91E5-52A7-9AE402A668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54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5BC3759-B3C9-C3E9-6AD6-89B81CC2ABDB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AA0EA431-155D-48FD-3E10-A23F82FC6EA0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817E9FDF-0E0E-23C8-A54C-BADB55E5740F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CA50BF36-A06A-5857-5BD7-AE154DAE62F4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6010C27D-FD02-7172-D66D-B5FA5E4396E7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0502492E-5B6F-F2D2-EB9C-3B30C87BEDC0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6FA5EAA5-18A8-2035-0C23-1E933E4F7B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20443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90790-42F7-96A2-10B7-63D87975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93E0267-B421-06A9-57F0-E494C829AF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968A340-A6CB-DB4C-9998-7796241648B6}" type="slidenum">
              <a:rPr lang="fr-FR" smtClean="0"/>
              <a:pPr/>
              <a:t>55</a:t>
            </a:fld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3E37FC46-FF77-A92E-5FDE-D5638C445EF9}"/>
              </a:ext>
            </a:extLst>
          </p:cNvPr>
          <p:cNvSpPr txBox="1">
            <a:spLocks/>
          </p:cNvSpPr>
          <p:nvPr/>
        </p:nvSpPr>
        <p:spPr>
          <a:xfrm>
            <a:off x="149852" y="585766"/>
            <a:ext cx="10506372" cy="66935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92075"/>
            <a:r>
              <a:rPr lang="en-US" sz="2400" b="1">
                <a:solidFill>
                  <a:schemeClr val="tx2"/>
                </a:solidFill>
                <a:latin typeface="+mn-lt"/>
              </a:rPr>
              <a:t>Top 5 Purchase projects </a:t>
            </a:r>
            <a:r>
              <a:rPr lang="en-US" sz="2400" b="1" err="1">
                <a:solidFill>
                  <a:schemeClr val="tx2"/>
                </a:solidFill>
                <a:latin typeface="+mn-lt"/>
              </a:rPr>
              <a:t>exPSA</a:t>
            </a:r>
            <a:r>
              <a:rPr lang="en-US" sz="2400" b="1">
                <a:solidFill>
                  <a:schemeClr val="tx2"/>
                </a:solidFill>
                <a:latin typeface="+mn-lt"/>
              </a:rPr>
              <a:t> </a:t>
            </a:r>
            <a:endParaRPr lang="en-US" sz="2400">
              <a:solidFill>
                <a:schemeClr val="tx2"/>
              </a:solidFill>
              <a:latin typeface="+mn-lt"/>
            </a:endParaRPr>
          </a:p>
        </p:txBody>
      </p:sp>
      <p:sp>
        <p:nvSpPr>
          <p:cNvPr id="10" name="Espace réservé de la date 3">
            <a:extLst>
              <a:ext uri="{FF2B5EF4-FFF2-40B4-BE49-F238E27FC236}">
                <a16:creationId xmlns:a16="http://schemas.microsoft.com/office/drawing/2014/main" id="{6603DD1D-FCC7-3BA1-DDE9-AAA5E689CC95}"/>
              </a:ext>
            </a:extLst>
          </p:cNvPr>
          <p:cNvSpPr txBox="1">
            <a:spLocks/>
          </p:cNvSpPr>
          <p:nvPr/>
        </p:nvSpPr>
        <p:spPr>
          <a:xfrm>
            <a:off x="0" y="6655424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2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JAN 2025</a:t>
            </a:r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EA0CBD0-74F7-F009-6D9C-FD10433614CE}"/>
              </a:ext>
            </a:extLst>
          </p:cNvPr>
          <p:cNvSpPr txBox="1"/>
          <p:nvPr/>
        </p:nvSpPr>
        <p:spPr>
          <a:xfrm>
            <a:off x="-44251" y="6378425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Source : </a:t>
            </a:r>
            <a:r>
              <a:rPr lang="fr-FR" sz="1200" i="1" dirty="0" err="1"/>
              <a:t>autobiz</a:t>
            </a:r>
            <a:r>
              <a:rPr lang="fr-FR" sz="1200" i="1" dirty="0"/>
              <a:t>, , Q 2026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85B94C3F-1B48-76C6-99F8-1E74E4429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09" y="137989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>
                <a:ea typeface="+mn-ea"/>
              </a:rPr>
              <a:t>MISCELLANEOUS ANALYSIS 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61575FEB-19C7-705B-5D32-532DEA5746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DEDA984-270E-DC4E-0DDF-D35CB80B2E49}"/>
              </a:ext>
            </a:extLst>
          </p:cNvPr>
          <p:cNvSpPr/>
          <p:nvPr/>
        </p:nvSpPr>
        <p:spPr>
          <a:xfrm>
            <a:off x="1371600" y="1211826"/>
            <a:ext cx="7756391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27184543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E856D-4EFE-5DB6-E898-D9A1134F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714DC8F-258E-BBEC-74D3-82593AB6CE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968A340-A6CB-DB4C-9998-7796241648B6}" type="slidenum">
              <a:rPr lang="fr-FR" smtClean="0"/>
              <a:pPr/>
              <a:t>56</a:t>
            </a:fld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E02A8668-CDA1-CCC5-CE56-7753CD7085CB}"/>
              </a:ext>
            </a:extLst>
          </p:cNvPr>
          <p:cNvSpPr txBox="1">
            <a:spLocks/>
          </p:cNvSpPr>
          <p:nvPr/>
        </p:nvSpPr>
        <p:spPr>
          <a:xfrm>
            <a:off x="258709" y="616226"/>
            <a:ext cx="10506372" cy="66935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92075"/>
            <a:r>
              <a:rPr lang="en-US" sz="2400" b="1">
                <a:solidFill>
                  <a:schemeClr val="tx2"/>
                </a:solidFill>
                <a:latin typeface="+mn-lt"/>
              </a:rPr>
              <a:t>Top 5 Purchase projects </a:t>
            </a:r>
            <a:r>
              <a:rPr lang="en-US" sz="2400" b="1" err="1">
                <a:solidFill>
                  <a:schemeClr val="tx2"/>
                </a:solidFill>
                <a:latin typeface="+mn-lt"/>
              </a:rPr>
              <a:t>exFCA</a:t>
            </a:r>
            <a:r>
              <a:rPr lang="en-US" sz="2400" b="1">
                <a:solidFill>
                  <a:schemeClr val="tx2"/>
                </a:solidFill>
                <a:latin typeface="+mn-lt"/>
              </a:rPr>
              <a:t> </a:t>
            </a:r>
            <a:endParaRPr lang="en-US" sz="2400">
              <a:solidFill>
                <a:schemeClr val="tx2"/>
              </a:solidFill>
              <a:latin typeface="+mn-lt"/>
            </a:endParaRPr>
          </a:p>
        </p:txBody>
      </p:sp>
      <p:sp>
        <p:nvSpPr>
          <p:cNvPr id="10" name="Espace réservé de la date 3">
            <a:extLst>
              <a:ext uri="{FF2B5EF4-FFF2-40B4-BE49-F238E27FC236}">
                <a16:creationId xmlns:a16="http://schemas.microsoft.com/office/drawing/2014/main" id="{E87DD55E-DEC2-390A-972B-232DED580AC1}"/>
              </a:ext>
            </a:extLst>
          </p:cNvPr>
          <p:cNvSpPr txBox="1">
            <a:spLocks/>
          </p:cNvSpPr>
          <p:nvPr/>
        </p:nvSpPr>
        <p:spPr>
          <a:xfrm>
            <a:off x="0" y="6655424"/>
            <a:ext cx="274320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200" b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JAN 2025</a:t>
            </a:r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1272B5C-619D-BB02-32A6-74A6E378E530}"/>
              </a:ext>
            </a:extLst>
          </p:cNvPr>
          <p:cNvSpPr txBox="1"/>
          <p:nvPr/>
        </p:nvSpPr>
        <p:spPr>
          <a:xfrm>
            <a:off x="-44251" y="6378425"/>
            <a:ext cx="3671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i="1" dirty="0"/>
              <a:t>Source : </a:t>
            </a:r>
            <a:r>
              <a:rPr lang="fr-FR" sz="1200" i="1" dirty="0" err="1"/>
              <a:t>autobiz</a:t>
            </a:r>
            <a:r>
              <a:rPr lang="fr-FR" sz="1200" i="1" dirty="0"/>
              <a:t>, Q 2026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4781432F-6579-43BF-C9A2-6598F7731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338" y="131751"/>
            <a:ext cx="10515600" cy="594299"/>
          </a:xfrm>
        </p:spPr>
        <p:txBody>
          <a:bodyPr>
            <a:normAutofit/>
          </a:bodyPr>
          <a:lstStyle/>
          <a:p>
            <a:pPr>
              <a:spcBef>
                <a:spcPts val="1000"/>
              </a:spcBef>
            </a:pPr>
            <a:r>
              <a:rPr lang="en-US" b="1"/>
              <a:t>MISCELLANEOUS ANALYSIS </a:t>
            </a:r>
            <a:endParaRPr lang="en-US" b="1">
              <a:ea typeface="+mn-ea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F15A535-B1C3-7CBA-2F6C-A05650C6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FA87D0-A5FC-AEC5-9AB3-464B10544571}"/>
              </a:ext>
            </a:extLst>
          </p:cNvPr>
          <p:cNvSpPr/>
          <p:nvPr/>
        </p:nvSpPr>
        <p:spPr>
          <a:xfrm>
            <a:off x="606176" y="1211826"/>
            <a:ext cx="7958304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29453771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D9A65A-8133-272E-48B6-F90406019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207173"/>
            <a:ext cx="10515600" cy="594299"/>
          </a:xfrm>
        </p:spPr>
        <p:txBody>
          <a:bodyPr/>
          <a:lstStyle/>
          <a:p>
            <a:r>
              <a:rPr lang="en-US" b="1"/>
              <a:t>MISCELLANEOUS ANALYSIS 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9B47C8-C5E9-B992-641F-8362B697A1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Trade-in </a:t>
            </a:r>
            <a:r>
              <a:rPr lang="fr-FR" err="1"/>
              <a:t>vehicle</a:t>
            </a:r>
            <a:r>
              <a:rPr lang="fr-FR"/>
              <a:t> by brands xP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77EBE9F-E930-E536-4578-84125EE3E4F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Octobre &amp; </a:t>
            </a:r>
            <a:r>
              <a:rPr lang="fr-FR" err="1"/>
              <a:t>November</a:t>
            </a:r>
            <a:r>
              <a:rPr lang="fr-FR"/>
              <a:t> 2025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0279B74-9DDB-A1C7-54A3-8291578DD1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57</a:t>
            </a:fld>
            <a:endParaRPr lang="fr-FR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278344EA-438B-95CE-3DC6-59AF803A8C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C072B9-B366-BDD8-D989-EC716F82F722}"/>
              </a:ext>
            </a:extLst>
          </p:cNvPr>
          <p:cNvSpPr/>
          <p:nvPr/>
        </p:nvSpPr>
        <p:spPr>
          <a:xfrm>
            <a:off x="622658" y="1315787"/>
            <a:ext cx="10446399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112623330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98F967-29D8-939F-4BA9-950909B67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76264"/>
            <a:ext cx="10515600" cy="594299"/>
          </a:xfrm>
        </p:spPr>
        <p:txBody>
          <a:bodyPr/>
          <a:lstStyle/>
          <a:p>
            <a:r>
              <a:rPr lang="en-US" b="1"/>
              <a:t>MISCELLANEOUS ANALYSIS </a:t>
            </a:r>
            <a:endParaRPr lang="fr-F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A58105F-D2C3-E3CF-D9D6-71A59CFF683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Trade-in </a:t>
            </a:r>
            <a:r>
              <a:rPr lang="fr-FR" err="1"/>
              <a:t>vehicle</a:t>
            </a:r>
            <a:r>
              <a:rPr lang="fr-FR"/>
              <a:t> by brands xF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05E671-7621-4ED2-B9E7-B26AD1BF01FC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fr-FR"/>
              <a:t>Octobre &amp; </a:t>
            </a:r>
            <a:r>
              <a:rPr lang="fr-FR" err="1"/>
              <a:t>November</a:t>
            </a:r>
            <a:r>
              <a:rPr lang="fr-FR"/>
              <a:t> 2025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6F975D8-B316-8DA4-A49D-9EF6EE26DC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58</a:t>
            </a:fld>
            <a:endParaRPr lang="fr-FR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685966E-C529-D3D7-B76F-3CC5ECA15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E85C478-19C0-A03C-05A0-22D5E8568F1F}"/>
              </a:ext>
            </a:extLst>
          </p:cNvPr>
          <p:cNvSpPr/>
          <p:nvPr/>
        </p:nvSpPr>
        <p:spPr>
          <a:xfrm>
            <a:off x="188914" y="1211826"/>
            <a:ext cx="11118184" cy="50576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PH_TBL</a:t>
            </a:r>
          </a:p>
        </p:txBody>
      </p:sp>
    </p:spTree>
    <p:extLst>
      <p:ext uri="{BB962C8B-B14F-4D97-AF65-F5344CB8AC3E}">
        <p14:creationId xmlns:p14="http://schemas.microsoft.com/office/powerpoint/2010/main" val="307446938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F901A-1317-917E-3FF5-1708F9469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D725652-C7D2-5C80-32E4-DC77DEBCCBFD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FD3B730-C6F5-A223-C8C1-493479EB3389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</a:t>
            </a:r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DIVE ANALYSIS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9B4F7439-5567-46E7-1B06-7BA654CF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0E70A102-FEF5-4E7D-5E42-01BEB173C2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59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7194EF2-0AA0-1ED3-1B4A-AEA84E15EC1A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91A140F6-B283-2A53-35A6-FB14078F9023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DACC09BE-EE2E-80D7-FC5C-42343AEAFADD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03832BE3-2BD7-EC2B-0CE4-F59E929451CC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D3814E67-38F5-1120-5573-E6950E5BD9E7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41B4859E-3771-A8CA-A263-0C70694C118E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1CC1B5BD-4F64-1AB0-F177-9D67E764E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75914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D8867-BA91-F64E-7C09-237D99693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6F2041-A1D7-0262-3836-347FD1DE8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40" y="107929"/>
            <a:ext cx="10515600" cy="594299"/>
          </a:xfrm>
        </p:spPr>
        <p:txBody>
          <a:bodyPr/>
          <a:lstStyle/>
          <a:p>
            <a:r>
              <a:rPr lang="en-US"/>
              <a:t>OPEN POINTS</a:t>
            </a:r>
            <a:endParaRPr lang="en-US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5F77FA-905E-6543-C4F3-4FE566ABAA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en-US" noProof="0" smtClean="0"/>
              <a:pPr/>
              <a:t>60</a:t>
            </a:fld>
            <a:endParaRPr lang="en-US" noProof="0"/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8B728726-6385-4E55-2FCA-A3EA55D90FCE}"/>
              </a:ext>
            </a:extLst>
          </p:cNvPr>
          <p:cNvGrpSpPr/>
          <p:nvPr/>
        </p:nvGrpSpPr>
        <p:grpSpPr>
          <a:xfrm>
            <a:off x="839771" y="979867"/>
            <a:ext cx="9879769" cy="2996232"/>
            <a:chOff x="1555261" y="1293678"/>
            <a:chExt cx="9563365" cy="2823451"/>
          </a:xfrm>
        </p:grpSpPr>
        <p:sp>
          <p:nvSpPr>
            <p:cNvPr id="22" name="Rectangle : coins arrondis 21">
              <a:extLst>
                <a:ext uri="{FF2B5EF4-FFF2-40B4-BE49-F238E27FC236}">
                  <a16:creationId xmlns:a16="http://schemas.microsoft.com/office/drawing/2014/main" id="{5C924B77-AC11-6055-1B13-F0FD6E906CC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>
              <a:off x="1555261" y="1293680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VISIBILITY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FC8FA50-9DD9-D611-E811-5F3EE535CC03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823449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457200" algn="just">
                <a:lnSpc>
                  <a:spcPct val="150000"/>
                </a:lnSpc>
              </a:pPr>
              <a:endParaRPr lang="en-US" sz="1200" b="1" dirty="0">
                <a:solidFill>
                  <a:srgbClr val="002060"/>
                </a:solidFill>
              </a:endParaRPr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FD64A491-EEFE-E773-4844-316CDFD216A7}"/>
              </a:ext>
            </a:extLst>
          </p:cNvPr>
          <p:cNvGrpSpPr/>
          <p:nvPr/>
        </p:nvGrpSpPr>
        <p:grpSpPr>
          <a:xfrm>
            <a:off x="839771" y="4071286"/>
            <a:ext cx="9879769" cy="2508252"/>
            <a:chOff x="1555261" y="1293678"/>
            <a:chExt cx="9563365" cy="2202148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59209C66-1846-7D17-3482-80B6E174FD3F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555261" y="1293680"/>
              <a:ext cx="1436329" cy="2202146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JOURNEY</a:t>
              </a:r>
            </a:p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IMPROVEMENT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E1BA15-FD8A-EAF5-6EB6-4A135F3BFA95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202148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449263">
                <a:buNone/>
              </a:pPr>
              <a:endParaRPr lang="en-ZA" sz="1200" b="1" dirty="0">
                <a:solidFill>
                  <a:srgbClr val="00206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84525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D2DA2-E573-03AE-B2CF-C04F068C4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EAE458-CD17-DA0B-2ADF-CD227DA0D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40" y="107929"/>
            <a:ext cx="10515600" cy="594299"/>
          </a:xfrm>
        </p:spPr>
        <p:txBody>
          <a:bodyPr/>
          <a:lstStyle/>
          <a:p>
            <a:r>
              <a:rPr lang="en-US"/>
              <a:t>OPEN POINTS</a:t>
            </a:r>
            <a:endParaRPr lang="en-US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645918-92B1-C951-0500-04C99AD598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en-US" noProof="0" smtClean="0"/>
              <a:pPr/>
              <a:t>61</a:t>
            </a:fld>
            <a:endParaRPr lang="en-US" noProof="0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B08DD44-6C46-0A87-3BAB-7448950D18A8}"/>
              </a:ext>
            </a:extLst>
          </p:cNvPr>
          <p:cNvGrpSpPr/>
          <p:nvPr/>
        </p:nvGrpSpPr>
        <p:grpSpPr>
          <a:xfrm>
            <a:off x="680057" y="920145"/>
            <a:ext cx="10515600" cy="2552575"/>
            <a:chOff x="1555261" y="1293678"/>
            <a:chExt cx="9563365" cy="2823451"/>
          </a:xfrm>
        </p:grpSpPr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B3EEBCA6-1779-D807-D8FF-C856959E87C7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 bwMode="auto">
            <a:xfrm>
              <a:off x="1555261" y="1293680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TRACKING</a:t>
              </a:r>
            </a:p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OPTIMIZATION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549E92A-06C4-F893-3AAC-A9B8FBC029BB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823449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indent="449263">
                <a:buNone/>
              </a:pPr>
              <a:endParaRPr lang="en-US" sz="1200" b="1" dirty="0">
                <a:solidFill>
                  <a:srgbClr val="002060"/>
                </a:solidFill>
              </a:endParaRPr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498B019C-8E2E-FA86-CFF7-BB1C0DD93FF9}"/>
              </a:ext>
            </a:extLst>
          </p:cNvPr>
          <p:cNvGrpSpPr/>
          <p:nvPr/>
        </p:nvGrpSpPr>
        <p:grpSpPr>
          <a:xfrm>
            <a:off x="680057" y="3619678"/>
            <a:ext cx="10515600" cy="2737599"/>
            <a:chOff x="1555261" y="1293678"/>
            <a:chExt cx="9563365" cy="2823451"/>
          </a:xfrm>
        </p:grpSpPr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0C66E151-E3B0-CDC7-DF76-062F568013FB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555261" y="1293680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CRM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0A7C2A6-C799-C63E-91C9-09A8C5A12C3C}"/>
                </a:ext>
              </a:extLst>
            </p:cNvPr>
            <p:cNvSpPr/>
            <p:nvPr/>
          </p:nvSpPr>
          <p:spPr bwMode="auto">
            <a:xfrm>
              <a:off x="2971016" y="1293678"/>
              <a:ext cx="8147610" cy="2823449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457200" indent="-7938" algn="just">
                <a:lnSpc>
                  <a:spcPct val="150000"/>
                </a:lnSpc>
              </a:pPr>
              <a:endParaRPr lang="en-US" sz="1200" b="1" dirty="0">
                <a:solidFill>
                  <a:srgbClr val="00206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461345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1AF57-E6A8-0DD1-FB74-54930977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D199D8-8463-793C-E014-D3ADC6773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940" y="107929"/>
            <a:ext cx="10515600" cy="594299"/>
          </a:xfrm>
        </p:spPr>
        <p:txBody>
          <a:bodyPr/>
          <a:lstStyle/>
          <a:p>
            <a:r>
              <a:rPr lang="en-US"/>
              <a:t>OPEN POINTS</a:t>
            </a:r>
            <a:endParaRPr lang="en-US" noProof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36C24D6-B43C-7392-332A-C3B52710FE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en-US" noProof="0" smtClean="0"/>
              <a:pPr/>
              <a:t>62</a:t>
            </a:fld>
            <a:endParaRPr lang="en-US" noProof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12442AB5-C161-2100-F090-EE94A4721F29}"/>
              </a:ext>
            </a:extLst>
          </p:cNvPr>
          <p:cNvGrpSpPr/>
          <p:nvPr/>
        </p:nvGrpSpPr>
        <p:grpSpPr>
          <a:xfrm>
            <a:off x="839771" y="1359569"/>
            <a:ext cx="9563365" cy="3541203"/>
            <a:chOff x="1555261" y="1829008"/>
            <a:chExt cx="9563365" cy="2833822"/>
          </a:xfrm>
        </p:grpSpPr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B0C93C71-BAA4-5FF6-1781-8960EB632443}"/>
                </a:ext>
              </a:extLst>
            </p:cNvPr>
            <p:cNvSpPr/>
            <p:nvPr>
              <p:custDataLst>
                <p:tags r:id="rId1"/>
              </p:custDataLst>
            </p:nvPr>
          </p:nvSpPr>
          <p:spPr bwMode="auto">
            <a:xfrm>
              <a:off x="1555261" y="1829008"/>
              <a:ext cx="1436329" cy="2823449"/>
            </a:xfrm>
            <a:prstGeom prst="roundRect">
              <a:avLst>
                <a:gd name="adj" fmla="val 2817"/>
              </a:avLst>
            </a:prstGeom>
            <a:solidFill>
              <a:srgbClr val="043882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0" tIns="38957" rIns="0" bIns="38957" numCol="1" rtlCol="0" anchor="ctr" anchorCtr="0" compatLnSpc="1">
              <a:prstTxWarp prst="textNoShape">
                <a:avLst/>
              </a:prstTxWarp>
            </a:bodyPr>
            <a:lstStyle/>
            <a:p>
              <a:pPr algn="ctr" defTabSz="779154" eaLnBrk="0" fontAlgn="base" hangingPunct="0">
                <a:spcBef>
                  <a:spcPct val="0"/>
                </a:spcBef>
                <a:spcAft>
                  <a:spcPts val="511"/>
                </a:spcAft>
              </a:pPr>
              <a:r>
                <a:rPr lang="en-US" sz="1400" b="1">
                  <a:solidFill>
                    <a:prstClr val="white"/>
                  </a:solidFill>
                  <a:cs typeface="Calibri Light" panose="020F0302020204030204" pitchFamily="34" charset="0"/>
                </a:rPr>
                <a:t>REVENUE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1B34B48-1334-B2E9-44D1-D623FBD41F51}"/>
                </a:ext>
              </a:extLst>
            </p:cNvPr>
            <p:cNvSpPr/>
            <p:nvPr/>
          </p:nvSpPr>
          <p:spPr bwMode="auto">
            <a:xfrm>
              <a:off x="2971016" y="1839383"/>
              <a:ext cx="8147610" cy="2823447"/>
            </a:xfrm>
            <a:prstGeom prst="rect">
              <a:avLst/>
            </a:prstGeom>
            <a:solidFill>
              <a:srgbClr val="F3F8FF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1" indent="-337820" algn="just">
                <a:lnSpc>
                  <a:spcPct val="150000"/>
                </a:lnSpc>
                <a:buClr>
                  <a:srgbClr val="FF4B00"/>
                </a:buClr>
              </a:pPr>
              <a:r>
                <a:rPr lang="en-ZA" sz="1200" b="1" dirty="0">
                  <a:solidFill>
                    <a:srgbClr val="002060"/>
                  </a:solidFill>
                  <a:cs typeface="Calibri Light"/>
                </a:rPr>
                <a:t>	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759178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641DC-BA45-3668-2287-7AF7D3DC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A8593B6-BF55-F24D-14DE-95FC349BA2D6}"/>
              </a:ext>
            </a:extLst>
          </p:cNvPr>
          <p:cNvSpPr/>
          <p:nvPr/>
        </p:nvSpPr>
        <p:spPr>
          <a:xfrm>
            <a:off x="877110" y="356789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LEADS FOCUS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49FF017-EA57-9065-3E35-E5BBE6A8E0E1}"/>
              </a:ext>
            </a:extLst>
          </p:cNvPr>
          <p:cNvSpPr/>
          <p:nvPr/>
        </p:nvSpPr>
        <p:spPr>
          <a:xfrm>
            <a:off x="877110" y="4034739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DEEP </a:t>
            </a:r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DIVE ANALYSIS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itre 4">
            <a:extLst>
              <a:ext uri="{FF2B5EF4-FFF2-40B4-BE49-F238E27FC236}">
                <a16:creationId xmlns:a16="http://schemas.microsoft.com/office/drawing/2014/main" id="{0F688259-D34A-4586-3ACB-57057C55C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" y="209431"/>
            <a:ext cx="10515600" cy="594299"/>
          </a:xfrm>
        </p:spPr>
        <p:txBody>
          <a:bodyPr/>
          <a:lstStyle/>
          <a:p>
            <a:r>
              <a:rPr lang="en-US" noProof="0"/>
              <a:t>Agenda</a:t>
            </a:r>
          </a:p>
        </p:txBody>
      </p:sp>
      <p:sp>
        <p:nvSpPr>
          <p:cNvPr id="10" name="Espace réservé du numéro de diapositive 10">
            <a:extLst>
              <a:ext uri="{FF2B5EF4-FFF2-40B4-BE49-F238E27FC236}">
                <a16:creationId xmlns:a16="http://schemas.microsoft.com/office/drawing/2014/main" id="{2D0C86F0-8855-E716-3B79-C04908E92F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63</a:t>
            </a:fld>
            <a:endParaRPr lang="en-US" noProof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6316A97-84CA-6AF3-B72C-62AE22AB3181}"/>
              </a:ext>
            </a:extLst>
          </p:cNvPr>
          <p:cNvSpPr/>
          <p:nvPr/>
        </p:nvSpPr>
        <p:spPr>
          <a:xfrm>
            <a:off x="877109" y="4517716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OPEN POINTS</a:t>
            </a:r>
          </a:p>
        </p:txBody>
      </p:sp>
      <p:sp>
        <p:nvSpPr>
          <p:cNvPr id="4" name="Espace réservé de la date 1">
            <a:extLst>
              <a:ext uri="{FF2B5EF4-FFF2-40B4-BE49-F238E27FC236}">
                <a16:creationId xmlns:a16="http://schemas.microsoft.com/office/drawing/2014/main" id="{B76096A3-4A44-AD2A-BDEE-63EA5A256525}"/>
              </a:ext>
            </a:extLst>
          </p:cNvPr>
          <p:cNvSpPr txBox="1">
            <a:spLocks/>
          </p:cNvSpPr>
          <p:nvPr/>
        </p:nvSpPr>
        <p:spPr>
          <a:xfrm>
            <a:off x="109538" y="6551038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December 2025</a:t>
            </a:r>
            <a:endParaRPr lang="en-US" noProof="0"/>
          </a:p>
        </p:txBody>
      </p:sp>
      <p:sp>
        <p:nvSpPr>
          <p:cNvPr id="6" name="Rectangle: Rounded Corners 25">
            <a:extLst>
              <a:ext uri="{FF2B5EF4-FFF2-40B4-BE49-F238E27FC236}">
                <a16:creationId xmlns:a16="http://schemas.microsoft.com/office/drawing/2014/main" id="{43266BAE-848D-D277-80AB-8F1646DF12C8}"/>
              </a:ext>
            </a:extLst>
          </p:cNvPr>
          <p:cNvSpPr/>
          <p:nvPr/>
        </p:nvSpPr>
        <p:spPr>
          <a:xfrm>
            <a:off x="877110" y="308858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SALES PERFORMANCE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8" name="Rectangle: Rounded Corners 28">
            <a:extLst>
              <a:ext uri="{FF2B5EF4-FFF2-40B4-BE49-F238E27FC236}">
                <a16:creationId xmlns:a16="http://schemas.microsoft.com/office/drawing/2014/main" id="{66665A39-C03A-19E7-D003-8AB92C2B1670}"/>
              </a:ext>
            </a:extLst>
          </p:cNvPr>
          <p:cNvSpPr/>
          <p:nvPr/>
        </p:nvSpPr>
        <p:spPr>
          <a:xfrm>
            <a:off x="877115" y="2052858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EXECUTIVE SUMMARY</a:t>
            </a: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6A4BD990-9066-0D22-2701-3EA1FC78DB89}"/>
              </a:ext>
            </a:extLst>
          </p:cNvPr>
          <p:cNvSpPr/>
          <p:nvPr/>
        </p:nvSpPr>
        <p:spPr>
          <a:xfrm>
            <a:off x="877108" y="4990600"/>
            <a:ext cx="10052551" cy="360000"/>
          </a:xfrm>
          <a:prstGeom prst="roundRect">
            <a:avLst/>
          </a:prstGeom>
          <a:solidFill>
            <a:srgbClr val="043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APPENDIX</a:t>
            </a:r>
            <a:endParaRPr lang="en-US" sz="1600" b="1" dirty="0">
              <a:solidFill>
                <a:schemeClr val="bg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9" name="Rectangle: Rounded Corners 25">
            <a:extLst>
              <a:ext uri="{FF2B5EF4-FFF2-40B4-BE49-F238E27FC236}">
                <a16:creationId xmlns:a16="http://schemas.microsoft.com/office/drawing/2014/main" id="{ECA26375-ECFE-3B57-472D-A6E515070EE7}"/>
              </a:ext>
            </a:extLst>
          </p:cNvPr>
          <p:cNvSpPr/>
          <p:nvPr/>
        </p:nvSpPr>
        <p:spPr>
          <a:xfrm>
            <a:off x="877111" y="2601704"/>
            <a:ext cx="10052551" cy="360000"/>
          </a:xfrm>
          <a:prstGeom prst="roundRect">
            <a:avLst/>
          </a:prstGeom>
          <a:solidFill>
            <a:srgbClr val="F3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PERFORMANCE OVERVIEW</a:t>
            </a:r>
            <a:endParaRPr lang="en-US" sz="1600" dirty="0">
              <a:solidFill>
                <a:schemeClr val="tx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C045CAFC-A7D5-AD47-D1FB-D05C5453C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62805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26ACE2-B678-7F5E-248A-C1DE1A1633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64</a:t>
            </a:fld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FF1899-3F48-C9F7-CC86-68B6495D82EE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E844DC4C-9AD7-4C2D-E68D-EC1B0449A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09" y="6093022"/>
            <a:ext cx="3019846" cy="40963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E6C3793-7233-7809-009B-D8982E93F202}"/>
              </a:ext>
            </a:extLst>
          </p:cNvPr>
          <p:cNvSpPr txBox="1">
            <a:spLocks/>
          </p:cNvSpPr>
          <p:nvPr/>
        </p:nvSpPr>
        <p:spPr>
          <a:xfrm>
            <a:off x="258763" y="140363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4A60987-C202-D19C-6D42-4D5EC5F97A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3" y="615950"/>
            <a:ext cx="6947580" cy="573088"/>
          </a:xfrm>
        </p:spPr>
        <p:txBody>
          <a:bodyPr>
            <a:normAutofit/>
          </a:bodyPr>
          <a:lstStyle/>
          <a:p>
            <a:r>
              <a:rPr lang="fr-FR" dirty="0"/>
              <a:t>All leads and </a:t>
            </a:r>
            <a:r>
              <a:rPr lang="fr-FR" dirty="0" err="1"/>
              <a:t>growth</a:t>
            </a:r>
            <a:r>
              <a:rPr lang="fr-FR" dirty="0"/>
              <a:t> </a:t>
            </a:r>
            <a:r>
              <a:rPr lang="fr-FR" dirty="0" err="1"/>
              <a:t>Year</a:t>
            </a:r>
            <a:r>
              <a:rPr lang="fr-FR" dirty="0"/>
              <a:t>-over-</a:t>
            </a:r>
            <a:r>
              <a:rPr lang="fr-FR" dirty="0" err="1"/>
              <a:t>Year</a:t>
            </a:r>
            <a:r>
              <a:rPr lang="fr-FR" dirty="0"/>
              <a:t> all </a:t>
            </a:r>
            <a:r>
              <a:rPr lang="fr-FR" dirty="0" err="1"/>
              <a:t>markets</a:t>
            </a:r>
            <a:endParaRPr lang="fr-FR" dirty="0"/>
          </a:p>
        </p:txBody>
      </p:sp>
      <p:sp>
        <p:nvSpPr>
          <p:cNvPr id="8" name="Espace réservé de la date 4">
            <a:extLst>
              <a:ext uri="{FF2B5EF4-FFF2-40B4-BE49-F238E27FC236}">
                <a16:creationId xmlns:a16="http://schemas.microsoft.com/office/drawing/2014/main" id="{F656CC80-0B73-6A7F-EBBE-AEBFE5FAA4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604375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0" name="Espace réservé de la date 4">
            <a:extLst>
              <a:ext uri="{FF2B5EF4-FFF2-40B4-BE49-F238E27FC236}">
                <a16:creationId xmlns:a16="http://schemas.microsoft.com/office/drawing/2014/main" id="{AC002E96-4034-260B-276D-A6917F904AE5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6DE242-DFE8-6382-0EF2-F9B4524AD631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42110087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BBCE0-D2F6-CD20-40A9-3321210E2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0456B5-0AB1-4FBA-9837-24B777A0CB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65</a:t>
            </a:fld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051C04-A873-4163-3044-3652D67865A5}"/>
              </a:ext>
            </a:extLst>
          </p:cNvPr>
          <p:cNvSpPr/>
          <p:nvPr/>
        </p:nvSpPr>
        <p:spPr>
          <a:xfrm>
            <a:off x="10026073" y="1432414"/>
            <a:ext cx="2045118" cy="4794774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7E176FBE-5BA7-1A27-F844-C05515FF1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09" y="6093022"/>
            <a:ext cx="3019846" cy="409632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9E74C7E-E585-AB23-5E6B-73A56E55289D}"/>
              </a:ext>
            </a:extLst>
          </p:cNvPr>
          <p:cNvSpPr txBox="1">
            <a:spLocks/>
          </p:cNvSpPr>
          <p:nvPr/>
        </p:nvSpPr>
        <p:spPr>
          <a:xfrm>
            <a:off x="258763" y="140363"/>
            <a:ext cx="10515600" cy="59429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43882"/>
                </a:solidFill>
                <a:latin typeface="Calibri bold" panose="020F0702030404030204" pitchFamily="34" charset="0"/>
                <a:ea typeface="Calibri bold" panose="020F0702030404030204" pitchFamily="34" charset="0"/>
                <a:cs typeface="Calibri bold" panose="020F0702030404030204" pitchFamily="34" charset="0"/>
              </a:defRPr>
            </a:lvl1pPr>
          </a:lstStyle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6E62FB2D-442A-3A46-75D1-B314DCC6E4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58762" y="615950"/>
            <a:ext cx="6370637" cy="573088"/>
          </a:xfrm>
        </p:spPr>
        <p:txBody>
          <a:bodyPr>
            <a:normAutofit/>
          </a:bodyPr>
          <a:lstStyle/>
          <a:p>
            <a:r>
              <a:rPr lang="fr-FR">
                <a:highlight>
                  <a:srgbClr val="FFFF00"/>
                </a:highlight>
              </a:rPr>
              <a:t>NC</a:t>
            </a:r>
            <a:r>
              <a:rPr lang="fr-FR"/>
              <a:t> leads and </a:t>
            </a:r>
            <a:r>
              <a:rPr lang="fr-FR" err="1"/>
              <a:t>growth</a:t>
            </a:r>
            <a:r>
              <a:rPr lang="fr-FR"/>
              <a:t> </a:t>
            </a:r>
            <a:r>
              <a:rPr lang="fr-FR" err="1"/>
              <a:t>Year</a:t>
            </a:r>
            <a:r>
              <a:rPr lang="fr-FR"/>
              <a:t>-over-</a:t>
            </a:r>
            <a:r>
              <a:rPr lang="fr-FR" err="1"/>
              <a:t>Year</a:t>
            </a:r>
            <a:r>
              <a:rPr lang="fr-FR"/>
              <a:t> all </a:t>
            </a:r>
            <a:r>
              <a:rPr lang="fr-FR" err="1"/>
              <a:t>markets</a:t>
            </a:r>
            <a:endParaRPr lang="fr-FR"/>
          </a:p>
        </p:txBody>
      </p:sp>
      <p:sp>
        <p:nvSpPr>
          <p:cNvPr id="8" name="Espace réservé de la date 4">
            <a:extLst>
              <a:ext uri="{FF2B5EF4-FFF2-40B4-BE49-F238E27FC236}">
                <a16:creationId xmlns:a16="http://schemas.microsoft.com/office/drawing/2014/main" id="{4A8AD9F3-E6B0-C06D-AB7E-C875BD1C4D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800318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0" name="Espace réservé de la date 4">
            <a:extLst>
              <a:ext uri="{FF2B5EF4-FFF2-40B4-BE49-F238E27FC236}">
                <a16:creationId xmlns:a16="http://schemas.microsoft.com/office/drawing/2014/main" id="{A570000C-F4F4-E2B8-F7CF-CF03E9A27E99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8708E7-07C4-6B74-771D-72CC84D156E3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4875486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16F9C-AE5C-BADF-65D5-BD5C02E9A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3A42-40B7-4D3E-87C8-F53E27B5B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40363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2CCF5F-C00D-DBBC-A11B-9B8ED44BE0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fr-FR"/>
              <a:t>Total leads and </a:t>
            </a:r>
            <a:r>
              <a:rPr lang="fr-FR" err="1"/>
              <a:t>growth</a:t>
            </a:r>
            <a:r>
              <a:rPr lang="fr-FR"/>
              <a:t> </a:t>
            </a:r>
            <a:r>
              <a:rPr lang="fr-FR" err="1"/>
              <a:t>Year</a:t>
            </a:r>
            <a:r>
              <a:rPr lang="fr-FR"/>
              <a:t>-over-</a:t>
            </a:r>
            <a:r>
              <a:rPr lang="fr-FR" err="1"/>
              <a:t>Year</a:t>
            </a:r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E8160-84F5-2741-32FF-4E4F17851B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66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0BCA69-E913-1D6B-7E60-A4C4A69AF5AB}"/>
              </a:ext>
            </a:extLst>
          </p:cNvPr>
          <p:cNvSpPr/>
          <p:nvPr/>
        </p:nvSpPr>
        <p:spPr>
          <a:xfrm>
            <a:off x="221340" y="5465187"/>
            <a:ext cx="11749320" cy="1010099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13" name="Espace réservé de la date 4">
            <a:extLst>
              <a:ext uri="{FF2B5EF4-FFF2-40B4-BE49-F238E27FC236}">
                <a16:creationId xmlns:a16="http://schemas.microsoft.com/office/drawing/2014/main" id="{E0797254-C02C-87C2-EDEE-8448EFBE27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800318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14" name="Espace réservé de la date 4">
            <a:extLst>
              <a:ext uri="{FF2B5EF4-FFF2-40B4-BE49-F238E27FC236}">
                <a16:creationId xmlns:a16="http://schemas.microsoft.com/office/drawing/2014/main" id="{2E3AE1C0-0D77-63FB-F3B7-2C78D119256F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C36142CB-E31E-A733-6F56-41DAE73E5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81DE2A9-7DD5-B337-F325-63A5A18EC867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11907149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82E93-4817-654B-A534-FCAA09F30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EC9C7-7FB0-E30E-E022-A8590A9F6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63" y="140363"/>
            <a:ext cx="10515600" cy="594299"/>
          </a:xfrm>
        </p:spPr>
        <p:txBody>
          <a:bodyPr/>
          <a:lstStyle/>
          <a:p>
            <a:r>
              <a:rPr lang="en-US" b="1"/>
              <a:t>EXECUTIVE SUMMARY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F422B7-FD15-8BF3-420A-804069E9D3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fr-FR"/>
              <a:t>NC leads and </a:t>
            </a:r>
            <a:r>
              <a:rPr lang="fr-FR" err="1"/>
              <a:t>growth</a:t>
            </a:r>
            <a:r>
              <a:rPr lang="fr-FR"/>
              <a:t> </a:t>
            </a:r>
            <a:r>
              <a:rPr lang="fr-FR" err="1"/>
              <a:t>Year</a:t>
            </a:r>
            <a:r>
              <a:rPr lang="fr-FR"/>
              <a:t>-over-</a:t>
            </a:r>
            <a:r>
              <a:rPr lang="fr-FR" err="1"/>
              <a:t>Year</a:t>
            </a:r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D1777-D213-166F-71E5-9CA0D480FD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8250-4A72-4719-B696-DC572B6C1A1F}" type="slidenum">
              <a:rPr lang="fr-FR" smtClean="0"/>
              <a:pPr/>
              <a:t>67</a:t>
            </a:fld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EEB6C1-B02A-B51B-4045-9C731248B59C}"/>
              </a:ext>
            </a:extLst>
          </p:cNvPr>
          <p:cNvSpPr/>
          <p:nvPr/>
        </p:nvSpPr>
        <p:spPr>
          <a:xfrm>
            <a:off x="135305" y="5426584"/>
            <a:ext cx="11749320" cy="1010099"/>
          </a:xfrm>
          <a:prstGeom prst="rect">
            <a:avLst/>
          </a:prstGeom>
          <a:solidFill>
            <a:srgbClr val="F3F8FF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3736" indent="-173736" algn="l" rtl="0" eaLnBrk="1" latinLnBrk="0" hangingPunct="1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000000"/>
              </a:solidFill>
              <a:effectLst/>
              <a:latin typeface="Calibri" panose="020F0502020204030204" pitchFamily="34" charset="0"/>
            </a:endParaRPr>
          </a:p>
        </p:txBody>
      </p:sp>
      <p:sp>
        <p:nvSpPr>
          <p:cNvPr id="4" name="Espace réservé de la date 4">
            <a:extLst>
              <a:ext uri="{FF2B5EF4-FFF2-40B4-BE49-F238E27FC236}">
                <a16:creationId xmlns:a16="http://schemas.microsoft.com/office/drawing/2014/main" id="{D71B4FBC-F642-E3D4-FB03-4A37141861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4968" y="6484366"/>
            <a:ext cx="800318" cy="365125"/>
          </a:xfrm>
        </p:spPr>
        <p:txBody>
          <a:bodyPr/>
          <a:lstStyle/>
          <a:p>
            <a:r>
              <a:rPr lang="fr-FR"/>
              <a:t>Date </a:t>
            </a:r>
          </a:p>
        </p:txBody>
      </p:sp>
      <p:sp>
        <p:nvSpPr>
          <p:cNvPr id="7" name="Espace réservé de la date 4">
            <a:extLst>
              <a:ext uri="{FF2B5EF4-FFF2-40B4-BE49-F238E27FC236}">
                <a16:creationId xmlns:a16="http://schemas.microsoft.com/office/drawing/2014/main" id="{01C7AC2A-9E9F-0A39-B0A0-5A86576C5A86}"/>
              </a:ext>
            </a:extLst>
          </p:cNvPr>
          <p:cNvSpPr txBox="1">
            <a:spLocks/>
          </p:cNvSpPr>
          <p:nvPr/>
        </p:nvSpPr>
        <p:spPr>
          <a:xfrm>
            <a:off x="1138759" y="6484366"/>
            <a:ext cx="2743200" cy="365125"/>
          </a:xfrm>
          <a:prstGeom prst="rect">
            <a:avLst/>
          </a:prstGeom>
        </p:spPr>
        <p:txBody>
          <a:bodyPr anchor="ctr" anchorCtr="0"/>
          <a:lstStyle>
            <a:defPPr>
              <a:defRPr lang="fr-FR"/>
            </a:defPPr>
            <a:lvl1pPr marL="0" algn="l" defTabSz="914400" rtl="0" eaLnBrk="1" latinLnBrk="0" hangingPunct="1">
              <a:defRPr sz="1000" kern="1200">
                <a:solidFill>
                  <a:schemeClr val="tx1"/>
                </a:solidFill>
                <a:latin typeface="Aptos Light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Source: autobiz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7C45C0A7-17A8-BD7F-D01F-DD4486AF1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71635C0-9664-C365-4093-1105BC70966A}"/>
              </a:ext>
            </a:extLst>
          </p:cNvPr>
          <p:cNvSpPr/>
          <p:nvPr/>
        </p:nvSpPr>
        <p:spPr>
          <a:xfrm>
            <a:off x="3637935" y="1553497"/>
            <a:ext cx="5388078" cy="1681316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A MAJ</a:t>
            </a:r>
          </a:p>
        </p:txBody>
      </p:sp>
    </p:spTree>
    <p:extLst>
      <p:ext uri="{BB962C8B-B14F-4D97-AF65-F5344CB8AC3E}">
        <p14:creationId xmlns:p14="http://schemas.microsoft.com/office/powerpoint/2010/main" val="35583260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60E7F09D-D957-5C55-A5B6-307825A484CF}"/>
              </a:ext>
            </a:extLst>
          </p:cNvPr>
          <p:cNvGrpSpPr/>
          <p:nvPr/>
        </p:nvGrpSpPr>
        <p:grpSpPr>
          <a:xfrm>
            <a:off x="4231811" y="3405883"/>
            <a:ext cx="3021744" cy="2028647"/>
            <a:chOff x="5937579" y="3621156"/>
            <a:chExt cx="3021744" cy="2028647"/>
          </a:xfrm>
        </p:grpSpPr>
        <p:sp>
          <p:nvSpPr>
            <p:cNvPr id="18" name="Espace réservé du texte 2">
              <a:extLst>
                <a:ext uri="{FF2B5EF4-FFF2-40B4-BE49-F238E27FC236}">
                  <a16:creationId xmlns:a16="http://schemas.microsoft.com/office/drawing/2014/main" id="{EDC43F9B-321C-B7CA-E78B-DD1125830417}"/>
                </a:ext>
              </a:extLst>
            </p:cNvPr>
            <p:cNvSpPr txBox="1">
              <a:spLocks/>
            </p:cNvSpPr>
            <p:nvPr/>
          </p:nvSpPr>
          <p:spPr>
            <a:xfrm>
              <a:off x="5937579" y="4190712"/>
              <a:ext cx="3021744" cy="1459091"/>
            </a:xfrm>
            <a:prstGeom prst="rect">
              <a:avLst/>
            </a:prstGeom>
            <a:solidFill>
              <a:srgbClr val="ECF3FE"/>
            </a:solidFill>
          </p:spPr>
          <p:txBody>
            <a:bodyPr>
              <a:normAutofit/>
            </a:bodyPr>
            <a:lstStyle>
              <a:lvl1pPr marL="342900" indent="-3429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1600" kern="1200">
                  <a:solidFill>
                    <a:srgbClr val="2B3C5F"/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1pPr>
              <a:lvl2pPr marL="742950" indent="-28575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1400" kern="1200">
                  <a:solidFill>
                    <a:srgbClr val="2B3C5F"/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2pPr>
              <a:lvl3pPr marL="1143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1200" kern="1200">
                  <a:solidFill>
                    <a:schemeClr val="bg1">
                      <a:lumMod val="50000"/>
                    </a:schemeClr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3pPr>
              <a:lvl4pPr marL="1600200" indent="-228600" algn="l" defTabSz="457200" rtl="0" eaLnBrk="1" latinLnBrk="0" hangingPunct="1">
                <a:spcBef>
                  <a:spcPct val="20000"/>
                </a:spcBef>
                <a:buFont typeface="Arial"/>
                <a:buChar char="–"/>
                <a:defRPr sz="1200" kern="1200">
                  <a:solidFill>
                    <a:schemeClr val="bg1">
                      <a:lumMod val="50000"/>
                    </a:schemeClr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4pPr>
              <a:lvl5pPr marL="2057400" indent="-228600" algn="l" defTabSz="457200" rtl="0" eaLnBrk="1" latinLnBrk="0" hangingPunct="1">
                <a:spcBef>
                  <a:spcPct val="20000"/>
                </a:spcBef>
                <a:buFont typeface="Arial"/>
                <a:buChar char="»"/>
                <a:defRPr sz="1200" kern="1200">
                  <a:solidFill>
                    <a:schemeClr val="bg1">
                      <a:lumMod val="50000"/>
                    </a:schemeClr>
                  </a:solidFill>
                  <a:latin typeface="Calibri Light" panose="020F0302020204030204" pitchFamily="34" charset="0"/>
                  <a:ea typeface="+mn-ea"/>
                  <a:cs typeface="Calibri Light" panose="020F0302020204030204" pitchFamily="34" charset="0"/>
                </a:defRPr>
              </a:lvl5pPr>
              <a:lvl6pPr marL="25146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457200" rtl="0" eaLnBrk="1" latinLnBrk="0" hangingPunct="1">
                <a:spcBef>
                  <a:spcPct val="20000"/>
                </a:spcBef>
                <a:buFont typeface="Arial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endParaRPr lang="en-US" sz="1400" b="1" noProof="0">
                <a:latin typeface="+mn-lt"/>
              </a:endParaRPr>
            </a:p>
            <a:p>
              <a:pPr marL="0" indent="0" algn="ctr">
                <a:buNone/>
              </a:pPr>
              <a:r>
                <a:rPr lang="fr-FR" sz="1400" b="1">
                  <a:solidFill>
                    <a:schemeClr val="accent1">
                      <a:lumMod val="75000"/>
                    </a:schemeClr>
                  </a:solidFill>
                </a:rPr>
                <a:t>Digital Key </a:t>
              </a:r>
              <a:r>
                <a:rPr lang="fr-FR" sz="1400" b="1" err="1">
                  <a:solidFill>
                    <a:schemeClr val="accent1">
                      <a:lumMod val="75000"/>
                    </a:schemeClr>
                  </a:solidFill>
                </a:rPr>
                <a:t>Account</a:t>
              </a:r>
              <a:r>
                <a:rPr lang="fr-FR" sz="1400" b="1">
                  <a:solidFill>
                    <a:schemeClr val="accent1">
                      <a:lumMod val="75000"/>
                    </a:schemeClr>
                  </a:solidFill>
                </a:rPr>
                <a:t> Manager team</a:t>
              </a:r>
            </a:p>
            <a:p>
              <a:pPr marL="0" indent="0">
                <a:buNone/>
              </a:pPr>
              <a:endParaRPr lang="fr-FR" sz="1400">
                <a:solidFill>
                  <a:schemeClr val="accent1">
                    <a:lumMod val="75000"/>
                  </a:schemeClr>
                </a:solidFill>
              </a:endParaRPr>
            </a:p>
            <a:p>
              <a:pPr marL="0" indent="0" algn="ctr">
                <a:buNone/>
              </a:pPr>
              <a:r>
                <a:rPr lang="fr-FR" sz="1400">
                  <a:solidFill>
                    <a:schemeClr val="accent1">
                      <a:lumMod val="75000"/>
                    </a:schemeClr>
                  </a:solidFill>
                </a:rPr>
                <a:t>dkam@autobiz.com</a:t>
              </a:r>
            </a:p>
            <a:p>
              <a:pPr marL="0" indent="0">
                <a:buNone/>
              </a:pPr>
              <a:endParaRPr lang="fr-FR" sz="1400">
                <a:solidFill>
                  <a:schemeClr val="accent1">
                    <a:lumMod val="75000"/>
                  </a:schemeClr>
                </a:solidFill>
              </a:endParaRPr>
            </a:p>
            <a:p>
              <a:pPr marL="0" indent="0">
                <a:buNone/>
              </a:pPr>
              <a:endParaRPr lang="fr-FR" sz="140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9" name="Freeform 88">
              <a:extLst>
                <a:ext uri="{FF2B5EF4-FFF2-40B4-BE49-F238E27FC236}">
                  <a16:creationId xmlns:a16="http://schemas.microsoft.com/office/drawing/2014/main" id="{FE049EAF-3CE1-2D96-A26B-08D94B274E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42688" y="3621156"/>
              <a:ext cx="729781" cy="739833"/>
            </a:xfrm>
            <a:custGeom>
              <a:avLst/>
              <a:gdLst>
                <a:gd name="T0" fmla="*/ 2147483647 w 601"/>
                <a:gd name="T1" fmla="*/ 2147483647 h 609"/>
                <a:gd name="T2" fmla="*/ 2147483647 w 601"/>
                <a:gd name="T3" fmla="*/ 2147483647 h 609"/>
                <a:gd name="T4" fmla="*/ 0 w 601"/>
                <a:gd name="T5" fmla="*/ 2147483647 h 609"/>
                <a:gd name="T6" fmla="*/ 2147483647 w 601"/>
                <a:gd name="T7" fmla="*/ 0 h 609"/>
                <a:gd name="T8" fmla="*/ 2147483647 w 601"/>
                <a:gd name="T9" fmla="*/ 2147483647 h 609"/>
                <a:gd name="T10" fmla="*/ 2147483647 w 601"/>
                <a:gd name="T11" fmla="*/ 2147483647 h 609"/>
                <a:gd name="T12" fmla="*/ 2147483647 w 601"/>
                <a:gd name="T13" fmla="*/ 2147483647 h 609"/>
                <a:gd name="T14" fmla="*/ 2147483647 w 601"/>
                <a:gd name="T15" fmla="*/ 2147483647 h 609"/>
                <a:gd name="T16" fmla="*/ 2147483647 w 601"/>
                <a:gd name="T17" fmla="*/ 2147483647 h 609"/>
                <a:gd name="T18" fmla="*/ 2147483647 w 601"/>
                <a:gd name="T19" fmla="*/ 2147483647 h 609"/>
                <a:gd name="T20" fmla="*/ 2147483647 w 601"/>
                <a:gd name="T21" fmla="*/ 2147483647 h 609"/>
                <a:gd name="T22" fmla="*/ 2147483647 w 601"/>
                <a:gd name="T23" fmla="*/ 2147483647 h 609"/>
                <a:gd name="T24" fmla="*/ 2147483647 w 601"/>
                <a:gd name="T25" fmla="*/ 2147483647 h 609"/>
                <a:gd name="T26" fmla="*/ 2147483647 w 601"/>
                <a:gd name="T27" fmla="*/ 2147483647 h 609"/>
                <a:gd name="T28" fmla="*/ 2147483647 w 601"/>
                <a:gd name="T29" fmla="*/ 2147483647 h 609"/>
                <a:gd name="T30" fmla="*/ 2147483647 w 601"/>
                <a:gd name="T31" fmla="*/ 2147483647 h 609"/>
                <a:gd name="T32" fmla="*/ 2147483647 w 601"/>
                <a:gd name="T33" fmla="*/ 2147483647 h 609"/>
                <a:gd name="T34" fmla="*/ 2147483647 w 601"/>
                <a:gd name="T35" fmla="*/ 2147483647 h 609"/>
                <a:gd name="T36" fmla="*/ 2147483647 w 601"/>
                <a:gd name="T37" fmla="*/ 2147483647 h 609"/>
                <a:gd name="T38" fmla="*/ 2147483647 w 601"/>
                <a:gd name="T39" fmla="*/ 2147483647 h 609"/>
                <a:gd name="T40" fmla="*/ 2147483647 w 601"/>
                <a:gd name="T41" fmla="*/ 2147483647 h 609"/>
                <a:gd name="T42" fmla="*/ 2147483647 w 601"/>
                <a:gd name="T43" fmla="*/ 2147483647 h 609"/>
                <a:gd name="T44" fmla="*/ 2147483647 w 601"/>
                <a:gd name="T45" fmla="*/ 2147483647 h 609"/>
                <a:gd name="T46" fmla="*/ 2147483647 w 601"/>
                <a:gd name="T47" fmla="*/ 2147483647 h 609"/>
                <a:gd name="T48" fmla="*/ 2147483647 w 601"/>
                <a:gd name="T49" fmla="*/ 2147483647 h 609"/>
                <a:gd name="T50" fmla="*/ 2147483647 w 601"/>
                <a:gd name="T51" fmla="*/ 2147483647 h 609"/>
                <a:gd name="T52" fmla="*/ 2147483647 w 601"/>
                <a:gd name="T53" fmla="*/ 2147483647 h 609"/>
                <a:gd name="T54" fmla="*/ 2147483647 w 601"/>
                <a:gd name="T55" fmla="*/ 2147483647 h 609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</a:gdLst>
              <a:ahLst/>
              <a:cxnLst>
                <a:cxn ang="T56">
                  <a:pos x="T0" y="T1"/>
                </a:cxn>
                <a:cxn ang="T57">
                  <a:pos x="T2" y="T3"/>
                </a:cxn>
                <a:cxn ang="T58">
                  <a:pos x="T4" y="T5"/>
                </a:cxn>
                <a:cxn ang="T59">
                  <a:pos x="T6" y="T7"/>
                </a:cxn>
                <a:cxn ang="T60">
                  <a:pos x="T8" y="T9"/>
                </a:cxn>
                <a:cxn ang="T61">
                  <a:pos x="T10" y="T11"/>
                </a:cxn>
                <a:cxn ang="T62">
                  <a:pos x="T12" y="T13"/>
                </a:cxn>
                <a:cxn ang="T63">
                  <a:pos x="T14" y="T15"/>
                </a:cxn>
                <a:cxn ang="T64">
                  <a:pos x="T16" y="T17"/>
                </a:cxn>
                <a:cxn ang="T65">
                  <a:pos x="T18" y="T19"/>
                </a:cxn>
                <a:cxn ang="T66">
                  <a:pos x="T20" y="T21"/>
                </a:cxn>
                <a:cxn ang="T67">
                  <a:pos x="T22" y="T23"/>
                </a:cxn>
                <a:cxn ang="T68">
                  <a:pos x="T24" y="T25"/>
                </a:cxn>
                <a:cxn ang="T69">
                  <a:pos x="T26" y="T27"/>
                </a:cxn>
                <a:cxn ang="T70">
                  <a:pos x="T28" y="T29"/>
                </a:cxn>
                <a:cxn ang="T71">
                  <a:pos x="T30" y="T31"/>
                </a:cxn>
                <a:cxn ang="T72">
                  <a:pos x="T32" y="T33"/>
                </a:cxn>
                <a:cxn ang="T73">
                  <a:pos x="T34" y="T35"/>
                </a:cxn>
                <a:cxn ang="T74">
                  <a:pos x="T36" y="T37"/>
                </a:cxn>
                <a:cxn ang="T75">
                  <a:pos x="T38" y="T39"/>
                </a:cxn>
                <a:cxn ang="T76">
                  <a:pos x="T40" y="T41"/>
                </a:cxn>
                <a:cxn ang="T77">
                  <a:pos x="T42" y="T43"/>
                </a:cxn>
                <a:cxn ang="T78">
                  <a:pos x="T44" y="T45"/>
                </a:cxn>
                <a:cxn ang="T79">
                  <a:pos x="T46" y="T47"/>
                </a:cxn>
                <a:cxn ang="T80">
                  <a:pos x="T48" y="T49"/>
                </a:cxn>
                <a:cxn ang="T81">
                  <a:pos x="T50" y="T51"/>
                </a:cxn>
                <a:cxn ang="T82">
                  <a:pos x="T52" y="T53"/>
                </a:cxn>
                <a:cxn ang="T83">
                  <a:pos x="T54" y="T55"/>
                </a:cxn>
              </a:cxnLst>
              <a:rect l="0" t="0" r="r" b="b"/>
              <a:pathLst>
                <a:path w="601" h="609">
                  <a:moveTo>
                    <a:pt x="297" y="608"/>
                  </a:moveTo>
                  <a:lnTo>
                    <a:pt x="297" y="608"/>
                  </a:lnTo>
                  <a:cubicBezTo>
                    <a:pt x="134" y="608"/>
                    <a:pt x="0" y="474"/>
                    <a:pt x="0" y="304"/>
                  </a:cubicBezTo>
                  <a:cubicBezTo>
                    <a:pt x="0" y="135"/>
                    <a:pt x="134" y="0"/>
                    <a:pt x="297" y="0"/>
                  </a:cubicBezTo>
                  <a:cubicBezTo>
                    <a:pt x="466" y="0"/>
                    <a:pt x="600" y="135"/>
                    <a:pt x="600" y="304"/>
                  </a:cubicBezTo>
                  <a:cubicBezTo>
                    <a:pt x="600" y="474"/>
                    <a:pt x="466" y="608"/>
                    <a:pt x="297" y="608"/>
                  </a:cubicBezTo>
                  <a:close/>
                  <a:moveTo>
                    <a:pt x="297" y="57"/>
                  </a:moveTo>
                  <a:lnTo>
                    <a:pt x="297" y="57"/>
                  </a:lnTo>
                  <a:cubicBezTo>
                    <a:pt x="162" y="57"/>
                    <a:pt x="56" y="170"/>
                    <a:pt x="56" y="304"/>
                  </a:cubicBezTo>
                  <a:cubicBezTo>
                    <a:pt x="56" y="368"/>
                    <a:pt x="78" y="425"/>
                    <a:pt x="120" y="467"/>
                  </a:cubicBezTo>
                  <a:cubicBezTo>
                    <a:pt x="155" y="453"/>
                    <a:pt x="141" y="467"/>
                    <a:pt x="183" y="446"/>
                  </a:cubicBezTo>
                  <a:cubicBezTo>
                    <a:pt x="233" y="425"/>
                    <a:pt x="247" y="418"/>
                    <a:pt x="247" y="418"/>
                  </a:cubicBezTo>
                  <a:cubicBezTo>
                    <a:pt x="247" y="375"/>
                    <a:pt x="247" y="375"/>
                    <a:pt x="247" y="375"/>
                  </a:cubicBezTo>
                  <a:cubicBezTo>
                    <a:pt x="247" y="375"/>
                    <a:pt x="226" y="361"/>
                    <a:pt x="219" y="319"/>
                  </a:cubicBezTo>
                  <a:cubicBezTo>
                    <a:pt x="212" y="326"/>
                    <a:pt x="205" y="304"/>
                    <a:pt x="205" y="297"/>
                  </a:cubicBezTo>
                  <a:cubicBezTo>
                    <a:pt x="205" y="283"/>
                    <a:pt x="198" y="255"/>
                    <a:pt x="212" y="255"/>
                  </a:cubicBezTo>
                  <a:cubicBezTo>
                    <a:pt x="212" y="234"/>
                    <a:pt x="212" y="220"/>
                    <a:pt x="212" y="205"/>
                  </a:cubicBezTo>
                  <a:cubicBezTo>
                    <a:pt x="212" y="177"/>
                    <a:pt x="247" y="135"/>
                    <a:pt x="297" y="135"/>
                  </a:cubicBezTo>
                  <a:cubicBezTo>
                    <a:pt x="360" y="135"/>
                    <a:pt x="381" y="177"/>
                    <a:pt x="389" y="205"/>
                  </a:cubicBezTo>
                  <a:cubicBezTo>
                    <a:pt x="389" y="220"/>
                    <a:pt x="389" y="234"/>
                    <a:pt x="381" y="255"/>
                  </a:cubicBezTo>
                  <a:cubicBezTo>
                    <a:pt x="396" y="255"/>
                    <a:pt x="389" y="283"/>
                    <a:pt x="389" y="297"/>
                  </a:cubicBezTo>
                  <a:cubicBezTo>
                    <a:pt x="389" y="304"/>
                    <a:pt x="389" y="326"/>
                    <a:pt x="374" y="319"/>
                  </a:cubicBezTo>
                  <a:cubicBezTo>
                    <a:pt x="367" y="361"/>
                    <a:pt x="353" y="375"/>
                    <a:pt x="353" y="375"/>
                  </a:cubicBezTo>
                  <a:cubicBezTo>
                    <a:pt x="353" y="418"/>
                    <a:pt x="353" y="418"/>
                    <a:pt x="353" y="418"/>
                  </a:cubicBezTo>
                  <a:cubicBezTo>
                    <a:pt x="353" y="418"/>
                    <a:pt x="367" y="425"/>
                    <a:pt x="410" y="446"/>
                  </a:cubicBezTo>
                  <a:cubicBezTo>
                    <a:pt x="459" y="467"/>
                    <a:pt x="445" y="453"/>
                    <a:pt x="480" y="467"/>
                  </a:cubicBezTo>
                  <a:cubicBezTo>
                    <a:pt x="523" y="425"/>
                    <a:pt x="544" y="368"/>
                    <a:pt x="544" y="304"/>
                  </a:cubicBezTo>
                  <a:cubicBezTo>
                    <a:pt x="544" y="170"/>
                    <a:pt x="431" y="57"/>
                    <a:pt x="297" y="57"/>
                  </a:cubicBezTo>
                  <a:close/>
                </a:path>
              </a:pathLst>
            </a:custGeom>
            <a:solidFill>
              <a:srgbClr val="FF4B00"/>
            </a:solidFill>
            <a:ln>
              <a:noFill/>
            </a:ln>
          </p:spPr>
          <p:txBody>
            <a:bodyPr wrap="none" anchor="ctr"/>
            <a:lstStyle/>
            <a:p>
              <a:endParaRPr lang="en-US" noProof="0"/>
            </a:p>
          </p:txBody>
        </p:sp>
      </p:grpSp>
      <p:sp>
        <p:nvSpPr>
          <p:cNvPr id="20" name="TextBox 1">
            <a:extLst>
              <a:ext uri="{FF2B5EF4-FFF2-40B4-BE49-F238E27FC236}">
                <a16:creationId xmlns:a16="http://schemas.microsoft.com/office/drawing/2014/main" id="{C22750F2-9E58-D876-095C-3F604F223B4E}"/>
              </a:ext>
            </a:extLst>
          </p:cNvPr>
          <p:cNvSpPr txBox="1"/>
          <p:nvPr/>
        </p:nvSpPr>
        <p:spPr>
          <a:xfrm>
            <a:off x="2260600" y="1745035"/>
            <a:ext cx="65860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noProof="0">
                <a:solidFill>
                  <a:schemeClr val="bg1"/>
                </a:solidFill>
              </a:rPr>
              <a:t>Contacts</a:t>
            </a:r>
          </a:p>
        </p:txBody>
      </p:sp>
      <p:sp>
        <p:nvSpPr>
          <p:cNvPr id="21" name="Freeform 75">
            <a:extLst>
              <a:ext uri="{FF2B5EF4-FFF2-40B4-BE49-F238E27FC236}">
                <a16:creationId xmlns:a16="http://schemas.microsoft.com/office/drawing/2014/main" id="{1498B841-9CE6-9387-8F17-A00B23EF73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9188" y="1768708"/>
            <a:ext cx="976312" cy="783652"/>
          </a:xfrm>
          <a:custGeom>
            <a:avLst/>
            <a:gdLst>
              <a:gd name="T0" fmla="*/ 531908 w 497"/>
              <a:gd name="T1" fmla="*/ 0 h 400"/>
              <a:gd name="T2" fmla="*/ 531908 w 497"/>
              <a:gd name="T3" fmla="*/ 0 h 400"/>
              <a:gd name="T4" fmla="*/ 63637 w 497"/>
              <a:gd name="T5" fmla="*/ 0 h 400"/>
              <a:gd name="T6" fmla="*/ 0 w 497"/>
              <a:gd name="T7" fmla="*/ 52620 h 400"/>
              <a:gd name="T8" fmla="*/ 0 w 497"/>
              <a:gd name="T9" fmla="*/ 413788 h 400"/>
              <a:gd name="T10" fmla="*/ 63637 w 497"/>
              <a:gd name="T11" fmla="*/ 477172 h 400"/>
              <a:gd name="T12" fmla="*/ 531908 w 497"/>
              <a:gd name="T13" fmla="*/ 477172 h 400"/>
              <a:gd name="T14" fmla="*/ 595545 w 497"/>
              <a:gd name="T15" fmla="*/ 413788 h 400"/>
              <a:gd name="T16" fmla="*/ 595545 w 497"/>
              <a:gd name="T17" fmla="*/ 52620 h 400"/>
              <a:gd name="T18" fmla="*/ 531908 w 497"/>
              <a:gd name="T19" fmla="*/ 0 h 400"/>
              <a:gd name="T20" fmla="*/ 531908 w 497"/>
              <a:gd name="T21" fmla="*/ 413788 h 400"/>
              <a:gd name="T22" fmla="*/ 531908 w 497"/>
              <a:gd name="T23" fmla="*/ 413788 h 400"/>
              <a:gd name="T24" fmla="*/ 63637 w 497"/>
              <a:gd name="T25" fmla="*/ 413788 h 400"/>
              <a:gd name="T26" fmla="*/ 63637 w 497"/>
              <a:gd name="T27" fmla="*/ 52620 h 400"/>
              <a:gd name="T28" fmla="*/ 531908 w 497"/>
              <a:gd name="T29" fmla="*/ 52620 h 400"/>
              <a:gd name="T30" fmla="*/ 531908 w 497"/>
              <a:gd name="T31" fmla="*/ 413788 h 400"/>
              <a:gd name="T32" fmla="*/ 266555 w 497"/>
              <a:gd name="T33" fmla="*/ 297784 h 400"/>
              <a:gd name="T34" fmla="*/ 266555 w 497"/>
              <a:gd name="T35" fmla="*/ 297784 h 400"/>
              <a:gd name="T36" fmla="*/ 116468 w 497"/>
              <a:gd name="T37" fmla="*/ 297784 h 400"/>
              <a:gd name="T38" fmla="*/ 116468 w 497"/>
              <a:gd name="T39" fmla="*/ 350405 h 400"/>
              <a:gd name="T40" fmla="*/ 266555 w 497"/>
              <a:gd name="T41" fmla="*/ 350405 h 400"/>
              <a:gd name="T42" fmla="*/ 266555 w 497"/>
              <a:gd name="T43" fmla="*/ 297784 h 400"/>
              <a:gd name="T44" fmla="*/ 266555 w 497"/>
              <a:gd name="T45" fmla="*/ 212874 h 400"/>
              <a:gd name="T46" fmla="*/ 266555 w 497"/>
              <a:gd name="T47" fmla="*/ 212874 h 400"/>
              <a:gd name="T48" fmla="*/ 116468 w 497"/>
              <a:gd name="T49" fmla="*/ 212874 h 400"/>
              <a:gd name="T50" fmla="*/ 116468 w 497"/>
              <a:gd name="T51" fmla="*/ 265494 h 400"/>
              <a:gd name="T52" fmla="*/ 266555 w 497"/>
              <a:gd name="T53" fmla="*/ 265494 h 400"/>
              <a:gd name="T54" fmla="*/ 266555 w 497"/>
              <a:gd name="T55" fmla="*/ 212874 h 400"/>
              <a:gd name="T56" fmla="*/ 266555 w 497"/>
              <a:gd name="T57" fmla="*/ 117200 h 400"/>
              <a:gd name="T58" fmla="*/ 266555 w 497"/>
              <a:gd name="T59" fmla="*/ 117200 h 400"/>
              <a:gd name="T60" fmla="*/ 116468 w 497"/>
              <a:gd name="T61" fmla="*/ 117200 h 400"/>
              <a:gd name="T62" fmla="*/ 116468 w 497"/>
              <a:gd name="T63" fmla="*/ 171017 h 400"/>
              <a:gd name="T64" fmla="*/ 266555 w 497"/>
              <a:gd name="T65" fmla="*/ 171017 h 400"/>
              <a:gd name="T66" fmla="*/ 266555 w 497"/>
              <a:gd name="T67" fmla="*/ 117200 h 400"/>
              <a:gd name="T68" fmla="*/ 467071 w 497"/>
              <a:gd name="T69" fmla="*/ 307351 h 400"/>
              <a:gd name="T70" fmla="*/ 467071 w 497"/>
              <a:gd name="T71" fmla="*/ 307351 h 400"/>
              <a:gd name="T72" fmla="*/ 425046 w 497"/>
              <a:gd name="T73" fmla="*/ 276258 h 400"/>
              <a:gd name="T74" fmla="*/ 457465 w 497"/>
              <a:gd name="T75" fmla="*/ 180584 h 400"/>
              <a:gd name="T76" fmla="*/ 403434 w 497"/>
              <a:gd name="T77" fmla="*/ 117200 h 400"/>
              <a:gd name="T78" fmla="*/ 350603 w 497"/>
              <a:gd name="T79" fmla="*/ 180584 h 400"/>
              <a:gd name="T80" fmla="*/ 383022 w 497"/>
              <a:gd name="T81" fmla="*/ 276258 h 400"/>
              <a:gd name="T82" fmla="*/ 330191 w 497"/>
              <a:gd name="T83" fmla="*/ 307351 h 400"/>
              <a:gd name="T84" fmla="*/ 330191 w 497"/>
              <a:gd name="T85" fmla="*/ 350405 h 400"/>
              <a:gd name="T86" fmla="*/ 477877 w 497"/>
              <a:gd name="T87" fmla="*/ 350405 h 400"/>
              <a:gd name="T88" fmla="*/ 467071 w 497"/>
              <a:gd name="T89" fmla="*/ 307351 h 400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</a:gdLst>
            <a:ahLst/>
            <a:cxnLst>
              <a:cxn ang="T90">
                <a:pos x="T0" y="T1"/>
              </a:cxn>
              <a:cxn ang="T91">
                <a:pos x="T2" y="T3"/>
              </a:cxn>
              <a:cxn ang="T92">
                <a:pos x="T4" y="T5"/>
              </a:cxn>
              <a:cxn ang="T93">
                <a:pos x="T6" y="T7"/>
              </a:cxn>
              <a:cxn ang="T94">
                <a:pos x="T8" y="T9"/>
              </a:cxn>
              <a:cxn ang="T95">
                <a:pos x="T10" y="T11"/>
              </a:cxn>
              <a:cxn ang="T96">
                <a:pos x="T12" y="T13"/>
              </a:cxn>
              <a:cxn ang="T97">
                <a:pos x="T14" y="T15"/>
              </a:cxn>
              <a:cxn ang="T98">
                <a:pos x="T16" y="T17"/>
              </a:cxn>
              <a:cxn ang="T99">
                <a:pos x="T18" y="T19"/>
              </a:cxn>
              <a:cxn ang="T100">
                <a:pos x="T20" y="T21"/>
              </a:cxn>
              <a:cxn ang="T101">
                <a:pos x="T22" y="T23"/>
              </a:cxn>
              <a:cxn ang="T102">
                <a:pos x="T24" y="T25"/>
              </a:cxn>
              <a:cxn ang="T103">
                <a:pos x="T26" y="T27"/>
              </a:cxn>
              <a:cxn ang="T104">
                <a:pos x="T28" y="T29"/>
              </a:cxn>
              <a:cxn ang="T105">
                <a:pos x="T30" y="T31"/>
              </a:cxn>
              <a:cxn ang="T106">
                <a:pos x="T32" y="T33"/>
              </a:cxn>
              <a:cxn ang="T107">
                <a:pos x="T34" y="T35"/>
              </a:cxn>
              <a:cxn ang="T108">
                <a:pos x="T36" y="T37"/>
              </a:cxn>
              <a:cxn ang="T109">
                <a:pos x="T38" y="T39"/>
              </a:cxn>
              <a:cxn ang="T110">
                <a:pos x="T40" y="T41"/>
              </a:cxn>
              <a:cxn ang="T111">
                <a:pos x="T42" y="T43"/>
              </a:cxn>
              <a:cxn ang="T112">
                <a:pos x="T44" y="T45"/>
              </a:cxn>
              <a:cxn ang="T113">
                <a:pos x="T46" y="T47"/>
              </a:cxn>
              <a:cxn ang="T114">
                <a:pos x="T48" y="T49"/>
              </a:cxn>
              <a:cxn ang="T115">
                <a:pos x="T50" y="T51"/>
              </a:cxn>
              <a:cxn ang="T116">
                <a:pos x="T52" y="T53"/>
              </a:cxn>
              <a:cxn ang="T117">
                <a:pos x="T54" y="T55"/>
              </a:cxn>
              <a:cxn ang="T118">
                <a:pos x="T56" y="T57"/>
              </a:cxn>
              <a:cxn ang="T119">
                <a:pos x="T58" y="T59"/>
              </a:cxn>
              <a:cxn ang="T120">
                <a:pos x="T60" y="T61"/>
              </a:cxn>
              <a:cxn ang="T121">
                <a:pos x="T62" y="T63"/>
              </a:cxn>
              <a:cxn ang="T122">
                <a:pos x="T64" y="T65"/>
              </a:cxn>
              <a:cxn ang="T123">
                <a:pos x="T66" y="T67"/>
              </a:cxn>
              <a:cxn ang="T124">
                <a:pos x="T68" y="T69"/>
              </a:cxn>
              <a:cxn ang="T125">
                <a:pos x="T70" y="T71"/>
              </a:cxn>
              <a:cxn ang="T126">
                <a:pos x="T72" y="T73"/>
              </a:cxn>
              <a:cxn ang="T127">
                <a:pos x="T74" y="T75"/>
              </a:cxn>
              <a:cxn ang="T128">
                <a:pos x="T76" y="T77"/>
              </a:cxn>
              <a:cxn ang="T129">
                <a:pos x="T78" y="T79"/>
              </a:cxn>
              <a:cxn ang="T130">
                <a:pos x="T80" y="T81"/>
              </a:cxn>
              <a:cxn ang="T131">
                <a:pos x="T82" y="T83"/>
              </a:cxn>
              <a:cxn ang="T132">
                <a:pos x="T84" y="T85"/>
              </a:cxn>
              <a:cxn ang="T133">
                <a:pos x="T86" y="T87"/>
              </a:cxn>
              <a:cxn ang="T134">
                <a:pos x="T88" y="T89"/>
              </a:cxn>
            </a:cxnLst>
            <a:rect l="0" t="0" r="r" b="b"/>
            <a:pathLst>
              <a:path w="497" h="400">
                <a:moveTo>
                  <a:pt x="443" y="0"/>
                </a:moveTo>
                <a:lnTo>
                  <a:pt x="443" y="0"/>
                </a:lnTo>
                <a:cubicBezTo>
                  <a:pt x="53" y="0"/>
                  <a:pt x="53" y="0"/>
                  <a:pt x="53" y="0"/>
                </a:cubicBezTo>
                <a:cubicBezTo>
                  <a:pt x="17" y="0"/>
                  <a:pt x="0" y="18"/>
                  <a:pt x="0" y="44"/>
                </a:cubicBezTo>
                <a:cubicBezTo>
                  <a:pt x="0" y="346"/>
                  <a:pt x="0" y="346"/>
                  <a:pt x="0" y="346"/>
                </a:cubicBezTo>
                <a:cubicBezTo>
                  <a:pt x="0" y="373"/>
                  <a:pt x="17" y="399"/>
                  <a:pt x="53" y="399"/>
                </a:cubicBezTo>
                <a:cubicBezTo>
                  <a:pt x="443" y="399"/>
                  <a:pt x="443" y="399"/>
                  <a:pt x="443" y="399"/>
                </a:cubicBezTo>
                <a:cubicBezTo>
                  <a:pt x="470" y="399"/>
                  <a:pt x="496" y="373"/>
                  <a:pt x="496" y="346"/>
                </a:cubicBezTo>
                <a:cubicBezTo>
                  <a:pt x="496" y="44"/>
                  <a:pt x="496" y="44"/>
                  <a:pt x="496" y="44"/>
                </a:cubicBezTo>
                <a:cubicBezTo>
                  <a:pt x="496" y="18"/>
                  <a:pt x="470" y="0"/>
                  <a:pt x="443" y="0"/>
                </a:cubicBezTo>
                <a:close/>
                <a:moveTo>
                  <a:pt x="443" y="346"/>
                </a:moveTo>
                <a:lnTo>
                  <a:pt x="443" y="346"/>
                </a:lnTo>
                <a:cubicBezTo>
                  <a:pt x="53" y="346"/>
                  <a:pt x="53" y="346"/>
                  <a:pt x="53" y="346"/>
                </a:cubicBezTo>
                <a:cubicBezTo>
                  <a:pt x="53" y="44"/>
                  <a:pt x="53" y="44"/>
                  <a:pt x="53" y="44"/>
                </a:cubicBezTo>
                <a:cubicBezTo>
                  <a:pt x="443" y="44"/>
                  <a:pt x="443" y="44"/>
                  <a:pt x="443" y="44"/>
                </a:cubicBezTo>
                <a:lnTo>
                  <a:pt x="443" y="346"/>
                </a:lnTo>
                <a:close/>
                <a:moveTo>
                  <a:pt x="222" y="249"/>
                </a:moveTo>
                <a:lnTo>
                  <a:pt x="222" y="249"/>
                </a:lnTo>
                <a:cubicBezTo>
                  <a:pt x="97" y="249"/>
                  <a:pt x="97" y="249"/>
                  <a:pt x="97" y="249"/>
                </a:cubicBezTo>
                <a:cubicBezTo>
                  <a:pt x="97" y="293"/>
                  <a:pt x="97" y="293"/>
                  <a:pt x="97" y="293"/>
                </a:cubicBezTo>
                <a:cubicBezTo>
                  <a:pt x="222" y="293"/>
                  <a:pt x="222" y="293"/>
                  <a:pt x="222" y="293"/>
                </a:cubicBezTo>
                <a:lnTo>
                  <a:pt x="222" y="249"/>
                </a:lnTo>
                <a:close/>
                <a:moveTo>
                  <a:pt x="222" y="178"/>
                </a:moveTo>
                <a:lnTo>
                  <a:pt x="222" y="178"/>
                </a:lnTo>
                <a:cubicBezTo>
                  <a:pt x="97" y="178"/>
                  <a:pt x="97" y="178"/>
                  <a:pt x="97" y="178"/>
                </a:cubicBezTo>
                <a:cubicBezTo>
                  <a:pt x="97" y="222"/>
                  <a:pt x="97" y="222"/>
                  <a:pt x="97" y="222"/>
                </a:cubicBezTo>
                <a:cubicBezTo>
                  <a:pt x="222" y="222"/>
                  <a:pt x="222" y="222"/>
                  <a:pt x="222" y="222"/>
                </a:cubicBezTo>
                <a:lnTo>
                  <a:pt x="222" y="178"/>
                </a:lnTo>
                <a:close/>
                <a:moveTo>
                  <a:pt x="222" y="98"/>
                </a:moveTo>
                <a:lnTo>
                  <a:pt x="222" y="98"/>
                </a:lnTo>
                <a:cubicBezTo>
                  <a:pt x="97" y="98"/>
                  <a:pt x="97" y="98"/>
                  <a:pt x="97" y="98"/>
                </a:cubicBezTo>
                <a:cubicBezTo>
                  <a:pt x="97" y="143"/>
                  <a:pt x="97" y="143"/>
                  <a:pt x="97" y="143"/>
                </a:cubicBezTo>
                <a:cubicBezTo>
                  <a:pt x="222" y="143"/>
                  <a:pt x="222" y="143"/>
                  <a:pt x="222" y="143"/>
                </a:cubicBezTo>
                <a:lnTo>
                  <a:pt x="222" y="98"/>
                </a:lnTo>
                <a:close/>
                <a:moveTo>
                  <a:pt x="389" y="257"/>
                </a:moveTo>
                <a:lnTo>
                  <a:pt x="389" y="257"/>
                </a:lnTo>
                <a:cubicBezTo>
                  <a:pt x="389" y="257"/>
                  <a:pt x="354" y="249"/>
                  <a:pt x="354" y="231"/>
                </a:cubicBezTo>
                <a:cubicBezTo>
                  <a:pt x="354" y="204"/>
                  <a:pt x="381" y="196"/>
                  <a:pt x="381" y="151"/>
                </a:cubicBezTo>
                <a:cubicBezTo>
                  <a:pt x="381" y="125"/>
                  <a:pt x="372" y="98"/>
                  <a:pt x="336" y="98"/>
                </a:cubicBezTo>
                <a:cubicBezTo>
                  <a:pt x="301" y="98"/>
                  <a:pt x="292" y="125"/>
                  <a:pt x="292" y="151"/>
                </a:cubicBezTo>
                <a:cubicBezTo>
                  <a:pt x="292" y="196"/>
                  <a:pt x="319" y="204"/>
                  <a:pt x="319" y="231"/>
                </a:cubicBezTo>
                <a:cubicBezTo>
                  <a:pt x="319" y="249"/>
                  <a:pt x="275" y="257"/>
                  <a:pt x="275" y="257"/>
                </a:cubicBezTo>
                <a:lnTo>
                  <a:pt x="275" y="293"/>
                </a:lnTo>
                <a:cubicBezTo>
                  <a:pt x="398" y="293"/>
                  <a:pt x="398" y="293"/>
                  <a:pt x="398" y="293"/>
                </a:cubicBezTo>
                <a:cubicBezTo>
                  <a:pt x="398" y="293"/>
                  <a:pt x="398" y="257"/>
                  <a:pt x="389" y="25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7"/>
                    </a:srgbClr>
                  </a:outerShdw>
                </a:effectLst>
              </a14:hiddenEffects>
            </a:ext>
          </a:extLst>
        </p:spPr>
        <p:txBody>
          <a:bodyPr wrap="none" lIns="45712" tIns="22856" rIns="45712" bIns="22856" anchor="ctr"/>
          <a:lstStyle/>
          <a:p>
            <a:endParaRPr lang="en-US" sz="900" noProof="0"/>
          </a:p>
        </p:txBody>
      </p:sp>
      <p:sp>
        <p:nvSpPr>
          <p:cNvPr id="7" name="Espace réservé du numéro de diapositive 10">
            <a:extLst>
              <a:ext uri="{FF2B5EF4-FFF2-40B4-BE49-F238E27FC236}">
                <a16:creationId xmlns:a16="http://schemas.microsoft.com/office/drawing/2014/main" id="{63AC9B29-DF3F-8E03-D562-72F04DDCBD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67191" y="646920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16A88250-4A72-4719-B696-DC572B6C1A1F}" type="slidenum">
              <a:rPr lang="en-US" noProof="0" smtClean="0"/>
              <a:pPr/>
              <a:t>68</a:t>
            </a:fld>
            <a:endParaRPr lang="en-US" noProof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62A0099-2519-BD47-79FF-1C964381B5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1174" y="50803"/>
            <a:ext cx="1157617" cy="136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213044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lvqUprLFEWTyI2JtrO40w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8c8e12-e326-4a04-ac59-e9fa9584893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84BE79F8F5EF24394EAC8C4081870EB" ma:contentTypeVersion="13" ma:contentTypeDescription="Crée un document." ma:contentTypeScope="" ma:versionID="4e4cb89b927625d909c4dcf25d140bf2">
  <xsd:schema xmlns:xsd="http://www.w3.org/2001/XMLSchema" xmlns:xs="http://www.w3.org/2001/XMLSchema" xmlns:p="http://schemas.microsoft.com/office/2006/metadata/properties" xmlns:ns3="bf8c8e12-e326-4a04-ac59-e9fa95848938" targetNamespace="http://schemas.microsoft.com/office/2006/metadata/properties" ma:root="true" ma:fieldsID="91272e5e268b40440f417e35427175cf" ns3:_="">
    <xsd:import namespace="bf8c8e12-e326-4a04-ac59-e9fa9584893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BillingMetadata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8c8e12-e326-4a04-ac59-e9fa9584893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98594E9-77AB-4F35-99A2-A20A0BF9BB61}">
  <ds:schemaRefs>
    <ds:schemaRef ds:uri="bf8c8e12-e326-4a04-ac59-e9fa9584893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595EAEC-7F91-419F-ABD9-843E8114352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2F097F-0E14-4F9E-A665-A82F0C8C9613}">
  <ds:schemaRefs>
    <ds:schemaRef ds:uri="bf8c8e12-e326-4a04-ac59-e9fa9584893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3341</TotalTime>
  <Words>1528</Words>
  <Application>Microsoft Office PowerPoint</Application>
  <PresentationFormat>Grand écran</PresentationFormat>
  <Paragraphs>493</Paragraphs>
  <Slides>68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68</vt:i4>
      </vt:variant>
    </vt:vector>
  </HeadingPairs>
  <TitlesOfParts>
    <vt:vector size="77" baseType="lpstr">
      <vt:lpstr>Aptos</vt:lpstr>
      <vt:lpstr>Aptos Light</vt:lpstr>
      <vt:lpstr>Arial</vt:lpstr>
      <vt:lpstr>Calibri</vt:lpstr>
      <vt:lpstr>Calibri bold</vt:lpstr>
      <vt:lpstr>Calibri Light</vt:lpstr>
      <vt:lpstr>DS Automobiles Office</vt:lpstr>
      <vt:lpstr>Segoe Sans</vt:lpstr>
      <vt:lpstr>Office Theme</vt:lpstr>
      <vt:lpstr>Présentation PowerPoint</vt:lpstr>
      <vt:lpstr>Agenda</vt:lpstr>
      <vt:lpstr>EXECUTIVE SUMMARY</vt:lpstr>
      <vt:lpstr>EXECUTIVE SUMMARY</vt:lpstr>
      <vt:lpstr>Agenda</vt:lpstr>
      <vt:lpstr>EXECUTIVE SUMMARY</vt:lpstr>
      <vt:lpstr>EXECUTIVE SUMMARY</vt:lpstr>
      <vt:lpstr>EXECUTIVE SUMMARY</vt:lpstr>
      <vt:lpstr>EXECUTIVE SUMMARY</vt:lpstr>
      <vt:lpstr>EXECUTIVE SUMMARY</vt:lpstr>
      <vt:lpstr>Présentation PowerPoint</vt:lpstr>
      <vt:lpstr>Présentation PowerPoint</vt:lpstr>
      <vt:lpstr>Agenda</vt:lpstr>
      <vt:lpstr>NC Sales Conversion</vt:lpstr>
      <vt:lpstr>NC Sales Conversion </vt:lpstr>
      <vt:lpstr>SALES PERFORMANCE</vt:lpstr>
      <vt:lpstr>Agenda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TRAFFICS DEEP DIVE</vt:lpstr>
      <vt:lpstr>LEAD DEEP DIVE</vt:lpstr>
      <vt:lpstr>LEAD DEEP DIVE</vt:lpstr>
      <vt:lpstr>LEAD DEEP DIVE</vt:lpstr>
      <vt:lpstr>Agenda</vt:lpstr>
      <vt:lpstr>MISCELLANEOUS ANALYSIS </vt:lpstr>
      <vt:lpstr>MISCELLANEOUS ANALYSIS </vt:lpstr>
      <vt:lpstr>MISCELLANEOUS ANALYSIS </vt:lpstr>
      <vt:lpstr>MISCELLANEOUS ANALYSIS </vt:lpstr>
      <vt:lpstr>Agenda</vt:lpstr>
      <vt:lpstr>OPEN POINTS</vt:lpstr>
      <vt:lpstr>OPEN POINTS</vt:lpstr>
      <vt:lpstr>OPEN POINTS</vt:lpstr>
      <vt:lpstr>Agenda</vt:lpstr>
      <vt:lpstr>Présentation PowerPoint</vt:lpstr>
      <vt:lpstr>Présentation PowerPoint</vt:lpstr>
      <vt:lpstr>EXECUTIVE SUMMARY</vt:lpstr>
      <vt:lpstr>EXECUTIVE SUMMARY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Sébastien VAUCELLE</dc:creator>
  <cp:lastModifiedBy>Safiatou MORO</cp:lastModifiedBy>
  <cp:revision>6</cp:revision>
  <cp:lastPrinted>2019-08-23T15:22:49Z</cp:lastPrinted>
  <dcterms:created xsi:type="dcterms:W3CDTF">2019-05-07T08:31:34Z</dcterms:created>
  <dcterms:modified xsi:type="dcterms:W3CDTF">2026-03-30T09:10:27Z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0x010100384BE79F8F5EF24394EAC8C4081870EB</vt:lpwstr>
  </property>
  <property fmtid="{D5CDD505-2E9C-101B-9397-08002B2CF9AE}" pid="3" name="MediaServiceImageTags">
    <vt:lpwstr/>
  </property>
</Properties>
</file>